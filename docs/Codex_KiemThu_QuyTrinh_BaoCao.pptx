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437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72B"/>
        </a:solidFill>
        <a:effectLst/>
      </p:bgPr>
    </p:bg>
    <p:spTree>
      <p:nvGrpSpPr>
        <p:cNvPr id="1" name=""/>
        <p:cNvGrpSpPr/>
        <p:nvPr/>
      </p:nvGrpSpPr>
      <p:grpSpPr>
        <a:xfrm>
          <a:off x="0" y="0"/>
          <a:ext cx="0" cy="0"/>
          <a:chOff x="0" y="0"/>
          <a:chExt cx="0" cy="0"/>
        </a:xfrm>
      </p:grpSpPr>
      <p:sp>
        <p:nvSpPr>
          <p:cNvPr id="2" name="Shape 0"/>
          <p:cNvSpPr/>
          <p:nvPr/>
        </p:nvSpPr>
        <p:spPr>
          <a:xfrm>
            <a:off x="8778240" y="-1097280"/>
            <a:ext cx="5029200" cy="5029200"/>
          </a:xfrm>
          <a:prstGeom prst="ellipse">
            <a:avLst/>
          </a:prstGeom>
          <a:solidFill>
            <a:srgbClr val="028090">
              <a:alpha val="30000"/>
            </a:srgbClr>
          </a:solidFill>
          <a:ln/>
        </p:spPr>
      </p:sp>
      <p:sp>
        <p:nvSpPr>
          <p:cNvPr id="3" name="Shape 1"/>
          <p:cNvSpPr/>
          <p:nvPr/>
        </p:nvSpPr>
        <p:spPr>
          <a:xfrm>
            <a:off x="10058400" y="3291840"/>
            <a:ext cx="3840480" cy="3840480"/>
          </a:xfrm>
          <a:prstGeom prst="ellipse">
            <a:avLst/>
          </a:prstGeom>
          <a:solidFill>
            <a:srgbClr val="02C39A">
              <a:alpha val="22000"/>
            </a:srgbClr>
          </a:solidFill>
          <a:ln/>
        </p:spPr>
      </p:sp>
      <p:sp>
        <p:nvSpPr>
          <p:cNvPr id="4" name="Text 2"/>
          <p:cNvSpPr/>
          <p:nvPr/>
        </p:nvSpPr>
        <p:spPr>
          <a:xfrm>
            <a:off x="731520" y="1371600"/>
            <a:ext cx="7315200" cy="365760"/>
          </a:xfrm>
          <a:prstGeom prst="rect">
            <a:avLst/>
          </a:prstGeom>
          <a:noFill/>
          <a:ln/>
        </p:spPr>
        <p:txBody>
          <a:bodyPr wrap="square" lIns="0" tIns="0" rIns="0" bIns="0"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BÁO CÁO CÔNG NGHỆ</a:t>
            </a:r>
            <a:endParaRPr lang="en-US" sz="1300" dirty="0"/>
          </a:p>
        </p:txBody>
      </p:sp>
      <p:sp>
        <p:nvSpPr>
          <p:cNvPr id="5" name="Text 3"/>
          <p:cNvSpPr/>
          <p:nvPr/>
        </p:nvSpPr>
        <p:spPr>
          <a:xfrm>
            <a:off x="731520" y="1783080"/>
            <a:ext cx="9144000" cy="2103120"/>
          </a:xfrm>
          <a:prstGeom prst="rect">
            <a:avLst/>
          </a:prstGeom>
          <a:noFill/>
          <a:ln/>
        </p:spPr>
        <p:txBody>
          <a:bodyPr wrap="square" lIns="0" tIns="0" rIns="0" bIns="0" rtlCol="0" anchor="ctr"/>
          <a:lstStyle/>
          <a:p>
            <a:pPr marL="0" indent="0">
              <a:lnSpc>
                <a:spcPts val="4800"/>
              </a:lnSpc>
              <a:buNone/>
            </a:pPr>
            <a:r>
              <a:rPr lang="en-US" sz="4000" b="1" dirty="0">
                <a:solidFill>
                  <a:srgbClr val="FFFFFF"/>
                </a:solidFill>
                <a:latin typeface="Cambria" pitchFamily="34" charset="0"/>
                <a:ea typeface="Cambria" pitchFamily="34" charset="-122"/>
                <a:cs typeface="Cambria" pitchFamily="34" charset="-120"/>
              </a:rPr>
              <a:t>Codex trong Kiểm thử Phần mềm:</a:t>
            </a:r>
            <a:endParaRPr lang="en-US" sz="4000" dirty="0"/>
          </a:p>
          <a:p>
            <a:pPr marL="0" indent="0">
              <a:lnSpc>
                <a:spcPts val="4800"/>
              </a:lnSpc>
              <a:buNone/>
            </a:pPr>
            <a:r>
              <a:rPr lang="en-US" sz="4000" b="1" dirty="0">
                <a:solidFill>
                  <a:srgbClr val="FFFFFF"/>
                </a:solidFill>
                <a:latin typeface="Cambria" pitchFamily="34" charset="0"/>
                <a:ea typeface="Cambria" pitchFamily="34" charset="-122"/>
                <a:cs typeface="Cambria" pitchFamily="34" charset="-120"/>
              </a:rPr>
              <a:t>Quy trình &amp; Loại hình kiểm thử</a:t>
            </a:r>
            <a:endParaRPr lang="en-US" sz="4000" dirty="0"/>
          </a:p>
        </p:txBody>
      </p:sp>
      <p:sp>
        <p:nvSpPr>
          <p:cNvPr id="6" name="Text 4"/>
          <p:cNvSpPr/>
          <p:nvPr/>
        </p:nvSpPr>
        <p:spPr>
          <a:xfrm>
            <a:off x="731520" y="4069080"/>
            <a:ext cx="7680960" cy="914400"/>
          </a:xfrm>
          <a:prstGeom prst="rect">
            <a:avLst/>
          </a:prstGeom>
          <a:noFill/>
          <a:ln/>
        </p:spPr>
        <p:txBody>
          <a:bodyPr wrap="square" lIns="0" tIns="0" rIns="0" bIns="0" rtlCol="0" anchor="ctr"/>
          <a:lstStyle/>
          <a:p>
            <a:pPr marL="0" indent="0">
              <a:lnSpc>
                <a:spcPts val="2000"/>
              </a:lnSpc>
              <a:buNone/>
            </a:pPr>
            <a:r>
              <a:rPr lang="en-US" sz="1400" dirty="0">
                <a:solidFill>
                  <a:srgbClr val="BFDEDD"/>
                </a:solidFill>
                <a:latin typeface="Calibri" pitchFamily="34" charset="0"/>
                <a:ea typeface="Calibri" pitchFamily="34" charset="-122"/>
                <a:cs typeface="Calibri" pitchFamily="34" charset="-120"/>
              </a:rPr>
              <a:t>Hai trục nhìn nhận: (1) theo từng giai đoạn của quy trình kiểm thử, và (2) theo từng loại hình kiểm thử — Unit/Functional, UI/Visual, Security, Performance.</a:t>
            </a:r>
            <a:endParaRPr lang="en-US" sz="1400" dirty="0"/>
          </a:p>
        </p:txBody>
      </p:sp>
      <p:sp>
        <p:nvSpPr>
          <p:cNvPr id="7" name="Shape 5"/>
          <p:cNvSpPr/>
          <p:nvPr/>
        </p:nvSpPr>
        <p:spPr>
          <a:xfrm>
            <a:off x="731520" y="5989320"/>
            <a:ext cx="1280160" cy="0"/>
          </a:xfrm>
          <a:prstGeom prst="line">
            <a:avLst/>
          </a:prstGeom>
          <a:noFill/>
          <a:ln w="31750">
            <a:solidFill>
              <a:srgbClr val="02C39A"/>
            </a:solidFill>
            <a:prstDash val="solid"/>
          </a:ln>
        </p:spPr>
      </p:sp>
      <p:sp>
        <p:nvSpPr>
          <p:cNvPr id="8" name="Text 6"/>
          <p:cNvSpPr/>
          <p:nvPr/>
        </p:nvSpPr>
        <p:spPr>
          <a:xfrm>
            <a:off x="731520" y="6126480"/>
            <a:ext cx="7315200" cy="320040"/>
          </a:xfrm>
          <a:prstGeom prst="rect">
            <a:avLst/>
          </a:prstGeom>
          <a:noFill/>
          <a:ln/>
        </p:spPr>
        <p:txBody>
          <a:bodyPr wrap="square" lIns="0" tIns="0" rIns="0" bIns="0" rtlCol="0" anchor="ctr"/>
          <a:lstStyle/>
          <a:p>
            <a:pPr marL="0" indent="0">
              <a:buNone/>
            </a:pPr>
            <a:r>
              <a:rPr lang="en-US" sz="1100" dirty="0">
                <a:solidFill>
                  <a:srgbClr val="8FB6B4"/>
                </a:solidFill>
                <a:latin typeface="Calibri" pitchFamily="34" charset="0"/>
                <a:ea typeface="Calibri" pitchFamily="34" charset="-122"/>
                <a:cs typeface="Calibri" pitchFamily="34" charset="-120"/>
              </a:rPr>
              <a:t>Sinh viên thực hiện: </a:t>
            </a:r>
            <a:r>
              <a:rPr lang="vi-VN" sz="1100" dirty="0">
                <a:solidFill>
                  <a:srgbClr val="8FB6B4"/>
                </a:solidFill>
                <a:latin typeface="Calibri" pitchFamily="34" charset="0"/>
                <a:ea typeface="Calibri" pitchFamily="34" charset="-122"/>
                <a:cs typeface="Calibri" pitchFamily="34" charset="-120"/>
              </a:rPr>
              <a:t>Nguyen Duy Quang Nhat</a:t>
            </a:r>
            <a:r>
              <a:rPr lang="en-US" sz="1100" dirty="0">
                <a:solidFill>
                  <a:srgbClr val="8FB6B4"/>
                </a:solidFill>
                <a:latin typeface="Calibri" pitchFamily="34" charset="0"/>
                <a:ea typeface="Calibri" pitchFamily="34" charset="-122"/>
                <a:cs typeface="Calibri" pitchFamily="34" charset="-120"/>
              </a:rPr>
              <a:t>•   Học kỳ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BỐI CẢNH</a:t>
            </a:r>
            <a:endParaRPr lang="en-US" sz="1200" dirty="0"/>
          </a:p>
        </p:txBody>
      </p:sp>
      <p:sp>
        <p:nvSpPr>
          <p:cNvPr id="3" name="Text 1"/>
          <p:cNvSpPr/>
          <p:nvPr/>
        </p:nvSpPr>
        <p:spPr>
          <a:xfrm>
            <a:off x="548640" y="685800"/>
            <a:ext cx="10789920" cy="640080"/>
          </a:xfrm>
          <a:prstGeom prst="rect">
            <a:avLst/>
          </a:prstGeom>
          <a:noFill/>
          <a:ln/>
        </p:spPr>
        <p:txBody>
          <a:bodyPr wrap="square" lIns="0" tIns="0" rIns="0" bIns="0" rtlCol="0" anchor="ctr"/>
          <a:lstStyle/>
          <a:p>
            <a:pPr marL="0" indent="0">
              <a:buNone/>
            </a:pPr>
            <a:r>
              <a:rPr lang="en-US" sz="2700" b="1" dirty="0">
                <a:solidFill>
                  <a:srgbClr val="0B2E33"/>
                </a:solidFill>
                <a:latin typeface="Cambria" pitchFamily="34" charset="0"/>
                <a:ea typeface="Cambria" pitchFamily="34" charset="-122"/>
                <a:cs typeface="Cambria" pitchFamily="34" charset="-120"/>
              </a:rPr>
              <a:t>Vì sao kiểm thử phần mềm cần trợ lý AI?</a:t>
            </a:r>
            <a:endParaRPr lang="en-US" sz="2700" dirty="0"/>
          </a:p>
        </p:txBody>
      </p:sp>
      <p:sp>
        <p:nvSpPr>
          <p:cNvPr id="4" name="Shape 2"/>
          <p:cNvSpPr/>
          <p:nvPr/>
        </p:nvSpPr>
        <p:spPr>
          <a:xfrm>
            <a:off x="548640" y="1691640"/>
            <a:ext cx="502920" cy="502920"/>
          </a:xfrm>
          <a:prstGeom prst="ellipse">
            <a:avLst/>
          </a:prstGeom>
          <a:solidFill>
            <a:srgbClr val="028090"/>
          </a:solidFill>
          <a:ln/>
        </p:spPr>
      </p:sp>
      <p:sp>
        <p:nvSpPr>
          <p:cNvPr id="5" name="Text 3"/>
          <p:cNvSpPr/>
          <p:nvPr/>
        </p:nvSpPr>
        <p:spPr>
          <a:xfrm>
            <a:off x="548640" y="16916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234440" y="1645920"/>
            <a:ext cx="4206240" cy="320040"/>
          </a:xfrm>
          <a:prstGeom prst="rect">
            <a:avLst/>
          </a:prstGeom>
          <a:noFill/>
          <a:ln/>
        </p:spPr>
        <p:txBody>
          <a:bodyPr wrap="square" lIns="0" tIns="0" rIns="0" bIns="0" rtlCol="0" anchor="ctr"/>
          <a:lstStyle/>
          <a:p>
            <a:pPr marL="0" indent="0">
              <a:buNone/>
            </a:pPr>
            <a:r>
              <a:rPr lang="en-US" sz="1500" b="1" dirty="0">
                <a:solidFill>
                  <a:srgbClr val="0B2E33"/>
                </a:solidFill>
                <a:latin typeface="Calibri" pitchFamily="34" charset="0"/>
                <a:ea typeface="Calibri" pitchFamily="34" charset="-122"/>
                <a:cs typeface="Calibri" pitchFamily="34" charset="-120"/>
              </a:rPr>
              <a:t>Tốn thời gian</a:t>
            </a:r>
            <a:endParaRPr lang="en-US" sz="1500" dirty="0"/>
          </a:p>
        </p:txBody>
      </p:sp>
      <p:sp>
        <p:nvSpPr>
          <p:cNvPr id="7" name="Text 5"/>
          <p:cNvSpPr/>
          <p:nvPr/>
        </p:nvSpPr>
        <p:spPr>
          <a:xfrm>
            <a:off x="1234440" y="1984248"/>
            <a:ext cx="4480560" cy="64008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Viết tay test case, script, và dữ liệu kiểm thử chiếm phần lớn thời gian của đội QA.</a:t>
            </a:r>
            <a:endParaRPr lang="en-US" sz="1150" dirty="0"/>
          </a:p>
        </p:txBody>
      </p:sp>
      <p:sp>
        <p:nvSpPr>
          <p:cNvPr id="8" name="Shape 6"/>
          <p:cNvSpPr/>
          <p:nvPr/>
        </p:nvSpPr>
        <p:spPr>
          <a:xfrm>
            <a:off x="548640" y="2862072"/>
            <a:ext cx="502920" cy="502920"/>
          </a:xfrm>
          <a:prstGeom prst="ellipse">
            <a:avLst/>
          </a:prstGeom>
          <a:solidFill>
            <a:srgbClr val="00A896"/>
          </a:solidFill>
          <a:ln/>
        </p:spPr>
      </p:sp>
      <p:sp>
        <p:nvSpPr>
          <p:cNvPr id="9" name="Text 7"/>
          <p:cNvSpPr/>
          <p:nvPr/>
        </p:nvSpPr>
        <p:spPr>
          <a:xfrm>
            <a:off x="548640" y="286207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234440" y="2816352"/>
            <a:ext cx="4206240" cy="320040"/>
          </a:xfrm>
          <a:prstGeom prst="rect">
            <a:avLst/>
          </a:prstGeom>
          <a:noFill/>
          <a:ln/>
        </p:spPr>
        <p:txBody>
          <a:bodyPr wrap="square" lIns="0" tIns="0" rIns="0" bIns="0" rtlCol="0" anchor="ctr"/>
          <a:lstStyle/>
          <a:p>
            <a:pPr marL="0" indent="0">
              <a:buNone/>
            </a:pPr>
            <a:r>
              <a:rPr lang="en-US" sz="1500" b="1" dirty="0">
                <a:solidFill>
                  <a:srgbClr val="0B2E33"/>
                </a:solidFill>
                <a:latin typeface="Calibri" pitchFamily="34" charset="0"/>
                <a:ea typeface="Calibri" pitchFamily="34" charset="-122"/>
                <a:cs typeface="Calibri" pitchFamily="34" charset="-120"/>
              </a:rPr>
              <a:t>Bộ test phình to</a:t>
            </a:r>
            <a:endParaRPr lang="en-US" sz="1500" dirty="0"/>
          </a:p>
        </p:txBody>
      </p:sp>
      <p:sp>
        <p:nvSpPr>
          <p:cNvPr id="11" name="Text 9"/>
          <p:cNvSpPr/>
          <p:nvPr/>
        </p:nvSpPr>
        <p:spPr>
          <a:xfrm>
            <a:off x="1234440" y="3154680"/>
            <a:ext cx="4480560" cy="64008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Test suite hồi quy cồng kềnh, trùng lặp, khó bảo trì theo thời gian.</a:t>
            </a:r>
            <a:endParaRPr lang="en-US" sz="1150" dirty="0"/>
          </a:p>
        </p:txBody>
      </p:sp>
      <p:sp>
        <p:nvSpPr>
          <p:cNvPr id="12" name="Shape 10"/>
          <p:cNvSpPr/>
          <p:nvPr/>
        </p:nvSpPr>
        <p:spPr>
          <a:xfrm>
            <a:off x="548640" y="4032504"/>
            <a:ext cx="502920" cy="502920"/>
          </a:xfrm>
          <a:prstGeom prst="ellipse">
            <a:avLst/>
          </a:prstGeom>
          <a:solidFill>
            <a:srgbClr val="028090"/>
          </a:solidFill>
          <a:ln/>
        </p:spPr>
      </p:sp>
      <p:sp>
        <p:nvSpPr>
          <p:cNvPr id="13" name="Text 11"/>
          <p:cNvSpPr/>
          <p:nvPr/>
        </p:nvSpPr>
        <p:spPr>
          <a:xfrm>
            <a:off x="548640" y="4032504"/>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234440" y="3986784"/>
            <a:ext cx="4206240" cy="320040"/>
          </a:xfrm>
          <a:prstGeom prst="rect">
            <a:avLst/>
          </a:prstGeom>
          <a:noFill/>
          <a:ln/>
        </p:spPr>
        <p:txBody>
          <a:bodyPr wrap="square" lIns="0" tIns="0" rIns="0" bIns="0" rtlCol="0" anchor="ctr"/>
          <a:lstStyle/>
          <a:p>
            <a:pPr marL="0" indent="0">
              <a:buNone/>
            </a:pPr>
            <a:r>
              <a:rPr lang="en-US" sz="1500" b="1" dirty="0">
                <a:solidFill>
                  <a:srgbClr val="0B2E33"/>
                </a:solidFill>
                <a:latin typeface="Calibri" pitchFamily="34" charset="0"/>
                <a:ea typeface="Calibri" pitchFamily="34" charset="-122"/>
                <a:cs typeface="Calibri" pitchFamily="34" charset="-120"/>
              </a:rPr>
              <a:t>Dễ bỏ sót case biên</a:t>
            </a:r>
            <a:endParaRPr lang="en-US" sz="1500" dirty="0"/>
          </a:p>
        </p:txBody>
      </p:sp>
      <p:sp>
        <p:nvSpPr>
          <p:cNvPr id="15" name="Text 13"/>
          <p:cNvSpPr/>
          <p:nvPr/>
        </p:nvSpPr>
        <p:spPr>
          <a:xfrm>
            <a:off x="1234440" y="4325112"/>
            <a:ext cx="4480560" cy="64008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Con người dễ bỏ qua edge case, case âm, lỗ hổng bảo mật, hoặc điểm nghẽn hiệu năng.</a:t>
            </a:r>
            <a:endParaRPr lang="en-US" sz="1150" dirty="0"/>
          </a:p>
        </p:txBody>
      </p:sp>
      <p:sp>
        <p:nvSpPr>
          <p:cNvPr id="16" name="Shape 14"/>
          <p:cNvSpPr/>
          <p:nvPr/>
        </p:nvSpPr>
        <p:spPr>
          <a:xfrm>
            <a:off x="548640" y="5202936"/>
            <a:ext cx="502920" cy="502920"/>
          </a:xfrm>
          <a:prstGeom prst="ellipse">
            <a:avLst/>
          </a:prstGeom>
          <a:solidFill>
            <a:srgbClr val="00A896"/>
          </a:solidFill>
          <a:ln/>
        </p:spPr>
      </p:sp>
      <p:sp>
        <p:nvSpPr>
          <p:cNvPr id="17" name="Text 15"/>
          <p:cNvSpPr/>
          <p:nvPr/>
        </p:nvSpPr>
        <p:spPr>
          <a:xfrm>
            <a:off x="548640" y="5202936"/>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234440" y="5157216"/>
            <a:ext cx="4206240" cy="320040"/>
          </a:xfrm>
          <a:prstGeom prst="rect">
            <a:avLst/>
          </a:prstGeom>
          <a:noFill/>
          <a:ln/>
        </p:spPr>
        <p:txBody>
          <a:bodyPr wrap="square" lIns="0" tIns="0" rIns="0" bIns="0" rtlCol="0" anchor="ctr"/>
          <a:lstStyle/>
          <a:p>
            <a:pPr marL="0" indent="0">
              <a:buNone/>
            </a:pPr>
            <a:r>
              <a:rPr lang="en-US" sz="1500" b="1" dirty="0">
                <a:solidFill>
                  <a:srgbClr val="0B2E33"/>
                </a:solidFill>
                <a:latin typeface="Calibri" pitchFamily="34" charset="0"/>
                <a:ea typeface="Calibri" pitchFamily="34" charset="-122"/>
                <a:cs typeface="Calibri" pitchFamily="34" charset="-120"/>
              </a:rPr>
              <a:t>Mỗi loại test một công cụ riêng</a:t>
            </a:r>
            <a:endParaRPr lang="en-US" sz="1500" dirty="0"/>
          </a:p>
        </p:txBody>
      </p:sp>
      <p:sp>
        <p:nvSpPr>
          <p:cNvPr id="19" name="Text 17"/>
          <p:cNvSpPr/>
          <p:nvPr/>
        </p:nvSpPr>
        <p:spPr>
          <a:xfrm>
            <a:off x="1234440" y="5495544"/>
            <a:ext cx="4480560" cy="64008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Unit test, UI test, security test, performance test thường dùng công cụ tách biệt, khó đồng bộ.</a:t>
            </a:r>
            <a:endParaRPr lang="en-US" sz="1150" dirty="0"/>
          </a:p>
        </p:txBody>
      </p:sp>
      <p:sp>
        <p:nvSpPr>
          <p:cNvPr id="20" name="Shape 18"/>
          <p:cNvSpPr/>
          <p:nvPr/>
        </p:nvSpPr>
        <p:spPr>
          <a:xfrm>
            <a:off x="6400800" y="1691640"/>
            <a:ext cx="5212080" cy="4434840"/>
          </a:xfrm>
          <a:prstGeom prst="roundRect">
            <a:avLst>
              <a:gd name="adj" fmla="val 2474"/>
            </a:avLst>
          </a:prstGeom>
          <a:solidFill>
            <a:srgbClr val="F3F8F8"/>
          </a:solidFill>
          <a:ln/>
          <a:effectLst>
            <a:outerShdw blurRad="76200" dist="25400" dir="5400000" algn="bl" rotWithShape="0">
              <a:srgbClr val="013335">
                <a:alpha val="25000"/>
              </a:srgbClr>
            </a:outerShdw>
          </a:effectLst>
        </p:spPr>
      </p:sp>
      <p:sp>
        <p:nvSpPr>
          <p:cNvPr id="21" name="Text 19"/>
          <p:cNvSpPr/>
          <p:nvPr/>
        </p:nvSpPr>
        <p:spPr>
          <a:xfrm>
            <a:off x="6766560" y="1965960"/>
            <a:ext cx="4572000" cy="32004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CÁCH TIẾP CẬN CỦA BÁO CÁO</a:t>
            </a:r>
            <a:endParaRPr lang="en-US" sz="1100" dirty="0"/>
          </a:p>
        </p:txBody>
      </p:sp>
      <p:sp>
        <p:nvSpPr>
          <p:cNvPr id="22" name="Text 20"/>
          <p:cNvSpPr/>
          <p:nvPr/>
        </p:nvSpPr>
        <p:spPr>
          <a:xfrm>
            <a:off x="6766560" y="2331720"/>
            <a:ext cx="4480560" cy="822960"/>
          </a:xfrm>
          <a:prstGeom prst="rect">
            <a:avLst/>
          </a:prstGeom>
          <a:noFill/>
          <a:ln/>
        </p:spPr>
        <p:txBody>
          <a:bodyPr wrap="square" lIns="0" tIns="0" rIns="0" bIns="0" rtlCol="0" anchor="ctr"/>
          <a:lstStyle/>
          <a:p>
            <a:pPr marL="0" indent="0">
              <a:lnSpc>
                <a:spcPts val="2200"/>
              </a:lnSpc>
              <a:buNone/>
            </a:pPr>
            <a:r>
              <a:rPr lang="en-US" sz="1700" i="1" dirty="0">
                <a:solidFill>
                  <a:srgbClr val="0B2E33"/>
                </a:solidFill>
                <a:latin typeface="Cambria" pitchFamily="34" charset="0"/>
                <a:ea typeface="Cambria" pitchFamily="34" charset="-122"/>
                <a:cs typeface="Cambria" pitchFamily="34" charset="-120"/>
              </a:rPr>
              <a:t>Nhìn Codex qua hai trục: quy trình và loại hình kiểm thử</a:t>
            </a:r>
            <a:endParaRPr lang="en-US" sz="1700" dirty="0"/>
          </a:p>
        </p:txBody>
      </p:sp>
      <p:sp>
        <p:nvSpPr>
          <p:cNvPr id="23" name="Shape 21"/>
          <p:cNvSpPr/>
          <p:nvPr/>
        </p:nvSpPr>
        <p:spPr>
          <a:xfrm>
            <a:off x="6766560" y="3246120"/>
            <a:ext cx="4480560" cy="0"/>
          </a:xfrm>
          <a:prstGeom prst="line">
            <a:avLst/>
          </a:prstGeom>
          <a:noFill/>
          <a:ln w="12700">
            <a:solidFill>
              <a:srgbClr val="D7E7E6"/>
            </a:solidFill>
            <a:prstDash val="solid"/>
          </a:ln>
        </p:spPr>
      </p:sp>
      <p:sp>
        <p:nvSpPr>
          <p:cNvPr id="24" name="Text 22"/>
          <p:cNvSpPr/>
          <p:nvPr/>
        </p:nvSpPr>
        <p:spPr>
          <a:xfrm>
            <a:off x="6766560" y="3474720"/>
            <a:ext cx="4480560" cy="2468880"/>
          </a:xfrm>
          <a:prstGeom prst="rect">
            <a:avLst/>
          </a:prstGeom>
          <a:noFill/>
          <a:ln/>
        </p:spPr>
        <p:txBody>
          <a:bodyPr wrap="square" lIns="0" tIns="0" rIns="0" bIns="0" rtlCol="0" anchor="ctr"/>
          <a:lstStyle/>
          <a:p>
            <a:pPr marL="0" indent="0">
              <a:lnSpc>
                <a:spcPts val="1900"/>
              </a:lnSpc>
              <a:buNone/>
            </a:pPr>
            <a:r>
              <a:rPr lang="en-US" sz="1250" dirty="0">
                <a:solidFill>
                  <a:srgbClr val="0B2E33"/>
                </a:solidFill>
                <a:latin typeface="Calibri" pitchFamily="34" charset="0"/>
                <a:ea typeface="Calibri" pitchFamily="34" charset="-122"/>
                <a:cs typeface="Calibri" pitchFamily="34" charset="-120"/>
              </a:rPr>
              <a:t>Trục 1 (quy trình) trả lời: "Codex làm gì ở từng bước, từ lập kế hoạch tới hồi quy?"</a:t>
            </a:r>
            <a:endParaRPr lang="en-US" sz="1250" dirty="0"/>
          </a:p>
          <a:p>
            <a:pPr marL="0" indent="0">
              <a:lnSpc>
                <a:spcPts val="1900"/>
              </a:lnSpc>
              <a:buNone/>
            </a:pPr>
            <a:endParaRPr lang="en-US" sz="1250" dirty="0"/>
          </a:p>
          <a:p>
            <a:pPr marL="0" indent="0">
              <a:lnSpc>
                <a:spcPts val="1900"/>
              </a:lnSpc>
              <a:buNone/>
            </a:pPr>
            <a:r>
              <a:rPr lang="en-US" sz="1250" dirty="0">
                <a:solidFill>
                  <a:srgbClr val="0B2E33"/>
                </a:solidFill>
                <a:latin typeface="Calibri" pitchFamily="34" charset="0"/>
                <a:ea typeface="Calibri" pitchFamily="34" charset="-122"/>
                <a:cs typeface="Calibri" pitchFamily="34" charset="-120"/>
              </a:rPr>
              <a:t>Trục 2 (loại hình) trả lời: "Codex hỗ trợ ra sao cho từng loại kiểm thử — Unit/Functional, UI/Visual, Security, Performance?"</a:t>
            </a:r>
            <a:endParaRPr lang="en-US" sz="1250" dirty="0"/>
          </a:p>
        </p:txBody>
      </p:sp>
      <p:sp>
        <p:nvSpPr>
          <p:cNvPr id="25" name="Text 23"/>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6" name="Text 24"/>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CÔNG CỤ</a:t>
            </a:r>
            <a:endParaRPr lang="en-US" sz="1200" dirty="0"/>
          </a:p>
        </p:txBody>
      </p:sp>
      <p:sp>
        <p:nvSpPr>
          <p:cNvPr id="3" name="Text 1"/>
          <p:cNvSpPr/>
          <p:nvPr/>
        </p:nvSpPr>
        <p:spPr>
          <a:xfrm>
            <a:off x="548640" y="685800"/>
            <a:ext cx="10789920" cy="640080"/>
          </a:xfrm>
          <a:prstGeom prst="rect">
            <a:avLst/>
          </a:prstGeom>
          <a:noFill/>
          <a:ln/>
        </p:spPr>
        <p:txBody>
          <a:bodyPr wrap="square" lIns="0" tIns="0" rIns="0" bIns="0" rtlCol="0" anchor="ctr"/>
          <a:lstStyle/>
          <a:p>
            <a:pPr marL="0" indent="0">
              <a:buNone/>
            </a:pPr>
            <a:r>
              <a:rPr lang="en-US" sz="2700" b="1" dirty="0">
                <a:solidFill>
                  <a:srgbClr val="0B2E33"/>
                </a:solidFill>
                <a:latin typeface="Cambria" pitchFamily="34" charset="0"/>
                <a:ea typeface="Cambria" pitchFamily="34" charset="-122"/>
                <a:cs typeface="Cambria" pitchFamily="34" charset="-120"/>
              </a:rPr>
              <a:t>Codex là gì?</a:t>
            </a:r>
            <a:endParaRPr lang="en-US" sz="2700" dirty="0"/>
          </a:p>
        </p:txBody>
      </p:sp>
      <p:sp>
        <p:nvSpPr>
          <p:cNvPr id="4" name="Text 2"/>
          <p:cNvSpPr/>
          <p:nvPr/>
        </p:nvSpPr>
        <p:spPr>
          <a:xfrm>
            <a:off x="548640" y="1691640"/>
            <a:ext cx="5577840" cy="1371600"/>
          </a:xfrm>
          <a:prstGeom prst="rect">
            <a:avLst/>
          </a:prstGeom>
          <a:noFill/>
          <a:ln/>
        </p:spPr>
        <p:txBody>
          <a:bodyPr wrap="square" lIns="0" tIns="0" rIns="0" bIns="0" rtlCol="0" anchor="ctr"/>
          <a:lstStyle/>
          <a:p>
            <a:pPr marL="0" indent="0">
              <a:lnSpc>
                <a:spcPts val="2000"/>
              </a:lnSpc>
              <a:buNone/>
            </a:pPr>
            <a:r>
              <a:rPr lang="en-US" sz="1350" dirty="0">
                <a:solidFill>
                  <a:srgbClr val="0B2E33"/>
                </a:solidFill>
                <a:latin typeface="Calibri" pitchFamily="34" charset="0"/>
                <a:ea typeface="Calibri" pitchFamily="34" charset="-122"/>
                <a:cs typeface="Calibri" pitchFamily="34" charset="-120"/>
              </a:rPr>
              <a:t>Codex là mô hình/agent AI sinh mã của OpenAI: đọc hiểu codebase, sinh và chỉnh sửa mã nguồn, chạy lệnh trong sandbox, và thao tác qua CLI, IDE hoặc pipeline CI/CD.</a:t>
            </a:r>
            <a:endParaRPr lang="en-US" sz="1350" dirty="0"/>
          </a:p>
        </p:txBody>
      </p:sp>
      <p:sp>
        <p:nvSpPr>
          <p:cNvPr id="5" name="Shape 3"/>
          <p:cNvSpPr/>
          <p:nvPr/>
        </p:nvSpPr>
        <p:spPr>
          <a:xfrm>
            <a:off x="548640" y="3273552"/>
            <a:ext cx="146304" cy="146304"/>
          </a:xfrm>
          <a:prstGeom prst="ellipse">
            <a:avLst/>
          </a:prstGeom>
          <a:solidFill>
            <a:srgbClr val="02C39A"/>
          </a:solidFill>
          <a:ln/>
        </p:spPr>
      </p:sp>
      <p:sp>
        <p:nvSpPr>
          <p:cNvPr id="6" name="Text 4"/>
          <p:cNvSpPr/>
          <p:nvPr/>
        </p:nvSpPr>
        <p:spPr>
          <a:xfrm>
            <a:off x="868680" y="3136392"/>
            <a:ext cx="5486400" cy="365760"/>
          </a:xfrm>
          <a:prstGeom prst="rect">
            <a:avLst/>
          </a:prstGeom>
          <a:noFill/>
          <a:ln/>
        </p:spPr>
        <p:txBody>
          <a:bodyPr wrap="square" lIns="0" tIns="0" rIns="0" bIns="0" rtlCol="0" anchor="ctr"/>
          <a:lstStyle/>
          <a:p>
            <a:pPr marL="0" indent="0">
              <a:buNone/>
            </a:pPr>
            <a:r>
              <a:rPr lang="en-US" sz="1250" b="1" dirty="0">
                <a:solidFill>
                  <a:srgbClr val="0B2E33"/>
                </a:solidFill>
                <a:latin typeface="Calibri" pitchFamily="34" charset="0"/>
                <a:ea typeface="Calibri" pitchFamily="34" charset="-122"/>
                <a:cs typeface="Calibri" pitchFamily="34" charset="-120"/>
              </a:rPr>
              <a:t>Hiểu ngữ cảnh dự án:  </a:t>
            </a:r>
            <a:endParaRPr lang="en-US" sz="1250" dirty="0"/>
          </a:p>
        </p:txBody>
      </p:sp>
      <p:sp>
        <p:nvSpPr>
          <p:cNvPr id="7" name="Text 5"/>
          <p:cNvSpPr/>
          <p:nvPr/>
        </p:nvSpPr>
        <p:spPr>
          <a:xfrm>
            <a:off x="868680" y="3410712"/>
            <a:ext cx="5577840" cy="457200"/>
          </a:xfrm>
          <a:prstGeom prst="rect">
            <a:avLst/>
          </a:prstGeom>
          <a:noFill/>
          <a:ln/>
        </p:spPr>
        <p:txBody>
          <a:bodyPr wrap="square" lIns="0" tIns="0" rIns="0" bIns="0" rtlCol="0" anchor="ctr"/>
          <a:lstStyle/>
          <a:p>
            <a:pPr marL="0" indent="0">
              <a:lnSpc>
                <a:spcPts val="1400"/>
              </a:lnSpc>
              <a:buNone/>
            </a:pPr>
            <a:r>
              <a:rPr lang="en-US" sz="1100" dirty="0">
                <a:solidFill>
                  <a:srgbClr val="5B7B7E"/>
                </a:solidFill>
                <a:latin typeface="Calibri" pitchFamily="34" charset="0"/>
                <a:ea typeface="Calibri" pitchFamily="34" charset="-122"/>
                <a:cs typeface="Calibri" pitchFamily="34" charset="-120"/>
              </a:rPr>
              <a:t>Đọc repo, đặc tả, lịch sử commit để sinh mã/test đúng convention.</a:t>
            </a:r>
            <a:endParaRPr lang="en-US" sz="1100" dirty="0"/>
          </a:p>
        </p:txBody>
      </p:sp>
      <p:sp>
        <p:nvSpPr>
          <p:cNvPr id="8" name="Shape 6"/>
          <p:cNvSpPr/>
          <p:nvPr/>
        </p:nvSpPr>
        <p:spPr>
          <a:xfrm>
            <a:off x="548640" y="3959352"/>
            <a:ext cx="146304" cy="146304"/>
          </a:xfrm>
          <a:prstGeom prst="ellipse">
            <a:avLst/>
          </a:prstGeom>
          <a:solidFill>
            <a:srgbClr val="02C39A"/>
          </a:solidFill>
          <a:ln/>
        </p:spPr>
      </p:sp>
      <p:sp>
        <p:nvSpPr>
          <p:cNvPr id="9" name="Text 7"/>
          <p:cNvSpPr/>
          <p:nvPr/>
        </p:nvSpPr>
        <p:spPr>
          <a:xfrm>
            <a:off x="868680" y="3822192"/>
            <a:ext cx="5486400" cy="365760"/>
          </a:xfrm>
          <a:prstGeom prst="rect">
            <a:avLst/>
          </a:prstGeom>
          <a:noFill/>
          <a:ln/>
        </p:spPr>
        <p:txBody>
          <a:bodyPr wrap="square" lIns="0" tIns="0" rIns="0" bIns="0" rtlCol="0" anchor="ctr"/>
          <a:lstStyle/>
          <a:p>
            <a:pPr marL="0" indent="0">
              <a:buNone/>
            </a:pPr>
            <a:r>
              <a:rPr lang="en-US" sz="1250" b="1" dirty="0">
                <a:solidFill>
                  <a:srgbClr val="0B2E33"/>
                </a:solidFill>
                <a:latin typeface="Calibri" pitchFamily="34" charset="0"/>
                <a:ea typeface="Calibri" pitchFamily="34" charset="-122"/>
                <a:cs typeface="Calibri" pitchFamily="34" charset="-120"/>
              </a:rPr>
              <a:t>Sinh &amp; sửa mã:  </a:t>
            </a:r>
            <a:endParaRPr lang="en-US" sz="1250" dirty="0"/>
          </a:p>
        </p:txBody>
      </p:sp>
      <p:sp>
        <p:nvSpPr>
          <p:cNvPr id="10" name="Text 8"/>
          <p:cNvSpPr/>
          <p:nvPr/>
        </p:nvSpPr>
        <p:spPr>
          <a:xfrm>
            <a:off x="868680" y="4096512"/>
            <a:ext cx="5577840" cy="457200"/>
          </a:xfrm>
          <a:prstGeom prst="rect">
            <a:avLst/>
          </a:prstGeom>
          <a:noFill/>
          <a:ln/>
        </p:spPr>
        <p:txBody>
          <a:bodyPr wrap="square" lIns="0" tIns="0" rIns="0" bIns="0" rtlCol="0" anchor="ctr"/>
          <a:lstStyle/>
          <a:p>
            <a:pPr marL="0" indent="0">
              <a:lnSpc>
                <a:spcPts val="1400"/>
              </a:lnSpc>
              <a:buNone/>
            </a:pPr>
            <a:r>
              <a:rPr lang="en-US" sz="1100" dirty="0">
                <a:solidFill>
                  <a:srgbClr val="5B7B7E"/>
                </a:solidFill>
                <a:latin typeface="Calibri" pitchFamily="34" charset="0"/>
                <a:ea typeface="Calibri" pitchFamily="34" charset="-122"/>
                <a:cs typeface="Calibri" pitchFamily="34" charset="-120"/>
              </a:rPr>
              <a:t>Viết mới hoặc chỉnh sửa hàm, test, cấu hình theo ngôn ngữ tự nhiên.</a:t>
            </a:r>
            <a:endParaRPr lang="en-US" sz="1100" dirty="0"/>
          </a:p>
        </p:txBody>
      </p:sp>
      <p:sp>
        <p:nvSpPr>
          <p:cNvPr id="11" name="Shape 9"/>
          <p:cNvSpPr/>
          <p:nvPr/>
        </p:nvSpPr>
        <p:spPr>
          <a:xfrm>
            <a:off x="548640" y="4645152"/>
            <a:ext cx="146304" cy="146304"/>
          </a:xfrm>
          <a:prstGeom prst="ellipse">
            <a:avLst/>
          </a:prstGeom>
          <a:solidFill>
            <a:srgbClr val="02C39A"/>
          </a:solidFill>
          <a:ln/>
        </p:spPr>
      </p:sp>
      <p:sp>
        <p:nvSpPr>
          <p:cNvPr id="12" name="Text 10"/>
          <p:cNvSpPr/>
          <p:nvPr/>
        </p:nvSpPr>
        <p:spPr>
          <a:xfrm>
            <a:off x="868680" y="4507992"/>
            <a:ext cx="5486400" cy="365760"/>
          </a:xfrm>
          <a:prstGeom prst="rect">
            <a:avLst/>
          </a:prstGeom>
          <a:noFill/>
          <a:ln/>
        </p:spPr>
        <p:txBody>
          <a:bodyPr wrap="square" lIns="0" tIns="0" rIns="0" bIns="0" rtlCol="0" anchor="ctr"/>
          <a:lstStyle/>
          <a:p>
            <a:pPr marL="0" indent="0">
              <a:buNone/>
            </a:pPr>
            <a:r>
              <a:rPr lang="en-US" sz="1250" b="1" dirty="0">
                <a:solidFill>
                  <a:srgbClr val="0B2E33"/>
                </a:solidFill>
                <a:latin typeface="Calibri" pitchFamily="34" charset="0"/>
                <a:ea typeface="Calibri" pitchFamily="34" charset="-122"/>
                <a:cs typeface="Calibri" pitchFamily="34" charset="-120"/>
              </a:rPr>
              <a:t>Thực thi &amp; kiểm tra:  </a:t>
            </a:r>
            <a:endParaRPr lang="en-US" sz="1250" dirty="0"/>
          </a:p>
        </p:txBody>
      </p:sp>
      <p:sp>
        <p:nvSpPr>
          <p:cNvPr id="13" name="Text 11"/>
          <p:cNvSpPr/>
          <p:nvPr/>
        </p:nvSpPr>
        <p:spPr>
          <a:xfrm>
            <a:off x="868680" y="4782312"/>
            <a:ext cx="5577840" cy="457200"/>
          </a:xfrm>
          <a:prstGeom prst="rect">
            <a:avLst/>
          </a:prstGeom>
          <a:noFill/>
          <a:ln/>
        </p:spPr>
        <p:txBody>
          <a:bodyPr wrap="square" lIns="0" tIns="0" rIns="0" bIns="0" rtlCol="0" anchor="ctr"/>
          <a:lstStyle/>
          <a:p>
            <a:pPr marL="0" indent="0">
              <a:lnSpc>
                <a:spcPts val="1400"/>
              </a:lnSpc>
              <a:buNone/>
            </a:pPr>
            <a:r>
              <a:rPr lang="en-US" sz="1100" dirty="0">
                <a:solidFill>
                  <a:srgbClr val="5B7B7E"/>
                </a:solidFill>
                <a:latin typeface="Calibri" pitchFamily="34" charset="0"/>
                <a:ea typeface="Calibri" pitchFamily="34" charset="-122"/>
                <a:cs typeface="Calibri" pitchFamily="34" charset="-120"/>
              </a:rPr>
              <a:t>Chạy test, đọc log lỗi, tự sửa và lặp lại tới khi đạt kết quả.</a:t>
            </a:r>
            <a:endParaRPr lang="en-US" sz="1100" dirty="0"/>
          </a:p>
        </p:txBody>
      </p:sp>
      <p:sp>
        <p:nvSpPr>
          <p:cNvPr id="14" name="Shape 12"/>
          <p:cNvSpPr/>
          <p:nvPr/>
        </p:nvSpPr>
        <p:spPr>
          <a:xfrm>
            <a:off x="548640" y="5330952"/>
            <a:ext cx="146304" cy="146304"/>
          </a:xfrm>
          <a:prstGeom prst="ellipse">
            <a:avLst/>
          </a:prstGeom>
          <a:solidFill>
            <a:srgbClr val="02C39A"/>
          </a:solidFill>
          <a:ln/>
        </p:spPr>
      </p:sp>
      <p:sp>
        <p:nvSpPr>
          <p:cNvPr id="15" name="Text 13"/>
          <p:cNvSpPr/>
          <p:nvPr/>
        </p:nvSpPr>
        <p:spPr>
          <a:xfrm>
            <a:off x="868680" y="5193792"/>
            <a:ext cx="5486400" cy="365760"/>
          </a:xfrm>
          <a:prstGeom prst="rect">
            <a:avLst/>
          </a:prstGeom>
          <a:noFill/>
          <a:ln/>
        </p:spPr>
        <p:txBody>
          <a:bodyPr wrap="square" lIns="0" tIns="0" rIns="0" bIns="0" rtlCol="0" anchor="ctr"/>
          <a:lstStyle/>
          <a:p>
            <a:pPr marL="0" indent="0">
              <a:buNone/>
            </a:pPr>
            <a:r>
              <a:rPr lang="en-US" sz="1250" b="1" dirty="0">
                <a:solidFill>
                  <a:srgbClr val="0B2E33"/>
                </a:solidFill>
                <a:latin typeface="Calibri" pitchFamily="34" charset="0"/>
                <a:ea typeface="Calibri" pitchFamily="34" charset="-122"/>
                <a:cs typeface="Calibri" pitchFamily="34" charset="-120"/>
              </a:rPr>
              <a:t>Tích hợp quy trình:  </a:t>
            </a:r>
            <a:endParaRPr lang="en-US" sz="1250" dirty="0"/>
          </a:p>
        </p:txBody>
      </p:sp>
      <p:sp>
        <p:nvSpPr>
          <p:cNvPr id="16" name="Text 14"/>
          <p:cNvSpPr/>
          <p:nvPr/>
        </p:nvSpPr>
        <p:spPr>
          <a:xfrm>
            <a:off x="868680" y="5468112"/>
            <a:ext cx="5577840" cy="457200"/>
          </a:xfrm>
          <a:prstGeom prst="rect">
            <a:avLst/>
          </a:prstGeom>
          <a:noFill/>
          <a:ln/>
        </p:spPr>
        <p:txBody>
          <a:bodyPr wrap="square" lIns="0" tIns="0" rIns="0" bIns="0" rtlCol="0" anchor="ctr"/>
          <a:lstStyle/>
          <a:p>
            <a:pPr marL="0" indent="0">
              <a:lnSpc>
                <a:spcPts val="1400"/>
              </a:lnSpc>
              <a:buNone/>
            </a:pPr>
            <a:r>
              <a:rPr lang="en-US" sz="1100" dirty="0">
                <a:solidFill>
                  <a:srgbClr val="5B7B7E"/>
                </a:solidFill>
                <a:latin typeface="Calibri" pitchFamily="34" charset="0"/>
                <a:ea typeface="Calibri" pitchFamily="34" charset="-122"/>
                <a:cs typeface="Calibri" pitchFamily="34" charset="-120"/>
              </a:rPr>
              <a:t>Gắn vào GitHub Actions, IDE, CLI như một cộng sự kỹ thuật.</a:t>
            </a:r>
            <a:endParaRPr lang="en-US" sz="1100" dirty="0"/>
          </a:p>
        </p:txBody>
      </p:sp>
      <p:sp>
        <p:nvSpPr>
          <p:cNvPr id="17" name="Shape 15"/>
          <p:cNvSpPr/>
          <p:nvPr/>
        </p:nvSpPr>
        <p:spPr>
          <a:xfrm>
            <a:off x="6537960" y="1691640"/>
            <a:ext cx="5074920" cy="4434840"/>
          </a:xfrm>
          <a:prstGeom prst="roundRect">
            <a:avLst>
              <a:gd name="adj" fmla="val 2474"/>
            </a:avLst>
          </a:prstGeom>
          <a:solidFill>
            <a:srgbClr val="0B2E33"/>
          </a:solidFill>
          <a:ln/>
          <a:effectLst>
            <a:outerShdw blurRad="76200" dist="25400" dir="5400000" algn="bl" rotWithShape="0">
              <a:srgbClr val="013335">
                <a:alpha val="25000"/>
              </a:srgbClr>
            </a:outerShdw>
          </a:effectLst>
        </p:spPr>
      </p:sp>
      <p:sp>
        <p:nvSpPr>
          <p:cNvPr id="18" name="Text 16"/>
          <p:cNvSpPr/>
          <p:nvPr/>
        </p:nvSpPr>
        <p:spPr>
          <a:xfrm>
            <a:off x="6903720" y="1965960"/>
            <a:ext cx="4389120" cy="32004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GIỚI HẠN CẦN GHI NHỚ</a:t>
            </a:r>
            <a:endParaRPr lang="en-US" sz="1100" dirty="0"/>
          </a:p>
        </p:txBody>
      </p:sp>
      <p:sp>
        <p:nvSpPr>
          <p:cNvPr id="19" name="Text 17"/>
          <p:cNvSpPr/>
          <p:nvPr/>
        </p:nvSpPr>
        <p:spPr>
          <a:xfrm>
            <a:off x="6903720" y="2331720"/>
            <a:ext cx="4389120" cy="1188720"/>
          </a:xfrm>
          <a:prstGeom prst="rect">
            <a:avLst/>
          </a:prstGeom>
          <a:noFill/>
          <a:ln/>
        </p:spPr>
        <p:txBody>
          <a:bodyPr wrap="square" lIns="0" tIns="0" rIns="0" bIns="0" rtlCol="0" anchor="ctr"/>
          <a:lstStyle/>
          <a:p>
            <a:pPr marL="0" indent="0">
              <a:lnSpc>
                <a:spcPts val="2100"/>
              </a:lnSpc>
              <a:buNone/>
            </a:pPr>
            <a:r>
              <a:rPr lang="en-US" sz="1500" i="1" dirty="0">
                <a:solidFill>
                  <a:srgbClr val="FFFFFF"/>
                </a:solidFill>
                <a:latin typeface="Cambria" pitchFamily="34" charset="0"/>
                <a:ea typeface="Cambria" pitchFamily="34" charset="-122"/>
                <a:cs typeface="Cambria" pitchFamily="34" charset="-120"/>
              </a:rPr>
              <a:t>Codex là một agent sinh mã — không phải công cụ chuyên dụng thay thế hoàn toàn cho visual-AI (như Applitools) hay fuzzing engine chuyên sâu (như Mayhem).</a:t>
            </a:r>
            <a:endParaRPr lang="en-US" sz="1500" dirty="0"/>
          </a:p>
        </p:txBody>
      </p:sp>
      <p:sp>
        <p:nvSpPr>
          <p:cNvPr id="20" name="Shape 18"/>
          <p:cNvSpPr/>
          <p:nvPr/>
        </p:nvSpPr>
        <p:spPr>
          <a:xfrm>
            <a:off x="6903720" y="3657600"/>
            <a:ext cx="4389120" cy="0"/>
          </a:xfrm>
          <a:prstGeom prst="line">
            <a:avLst/>
          </a:prstGeom>
          <a:noFill/>
          <a:ln w="12700">
            <a:solidFill>
              <a:srgbClr val="FFFFFF">
                <a:alpha val="40000"/>
              </a:srgbClr>
            </a:solidFill>
            <a:prstDash val="solid"/>
          </a:ln>
        </p:spPr>
      </p:sp>
      <p:sp>
        <p:nvSpPr>
          <p:cNvPr id="21" name="Text 19"/>
          <p:cNvSpPr/>
          <p:nvPr/>
        </p:nvSpPr>
        <p:spPr>
          <a:xfrm>
            <a:off x="6903720" y="3886200"/>
            <a:ext cx="4389120" cy="2011680"/>
          </a:xfrm>
          <a:prstGeom prst="rect">
            <a:avLst/>
          </a:prstGeom>
          <a:noFill/>
          <a:ln/>
        </p:spPr>
        <p:txBody>
          <a:bodyPr wrap="square" lIns="0" tIns="0" rIns="0" bIns="0" rtlCol="0" anchor="ctr"/>
          <a:lstStyle/>
          <a:p>
            <a:pPr marL="0" indent="0">
              <a:lnSpc>
                <a:spcPts val="1800"/>
              </a:lnSpc>
              <a:buNone/>
            </a:pPr>
            <a:r>
              <a:rPr lang="en-US" sz="1250" dirty="0">
                <a:solidFill>
                  <a:srgbClr val="CFE6E4"/>
                </a:solidFill>
                <a:latin typeface="Calibri" pitchFamily="34" charset="0"/>
                <a:ea typeface="Calibri" pitchFamily="34" charset="-122"/>
                <a:cs typeface="Calibri" pitchFamily="34" charset="-120"/>
              </a:rPr>
              <a:t>Ở các phần sau, báo cáo sẽ chỉ rõ: chỗ nào Codex đảm nhiệm tốt, và chỗ nào nên kết hợp với công cụ chuyên dụng khác.</a:t>
            </a:r>
            <a:endParaRPr lang="en-US" sz="125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KHUNG PHÂN TÍCH</a:t>
            </a:r>
            <a:endParaRPr lang="en-US" sz="1200" dirty="0"/>
          </a:p>
        </p:txBody>
      </p:sp>
      <p:sp>
        <p:nvSpPr>
          <p:cNvPr id="3" name="Text 1"/>
          <p:cNvSpPr/>
          <p:nvPr/>
        </p:nvSpPr>
        <p:spPr>
          <a:xfrm>
            <a:off x="548640" y="685800"/>
            <a:ext cx="10789920" cy="640080"/>
          </a:xfrm>
          <a:prstGeom prst="rect">
            <a:avLst/>
          </a:prstGeom>
          <a:noFill/>
          <a:ln/>
        </p:spPr>
        <p:txBody>
          <a:bodyPr wrap="square" lIns="0" tIns="0" rIns="0" bIns="0" rtlCol="0" anchor="ctr"/>
          <a:lstStyle/>
          <a:p>
            <a:pPr marL="0" indent="0">
              <a:buNone/>
            </a:pPr>
            <a:r>
              <a:rPr lang="en-US" sz="2700" b="1" dirty="0">
                <a:solidFill>
                  <a:srgbClr val="0B2E33"/>
                </a:solidFill>
                <a:latin typeface="Cambria" pitchFamily="34" charset="0"/>
                <a:ea typeface="Cambria" pitchFamily="34" charset="-122"/>
                <a:cs typeface="Cambria" pitchFamily="34" charset="-120"/>
              </a:rPr>
              <a:t>Hai trục nhìn nhận Codex trong kiểm thử</a:t>
            </a:r>
            <a:endParaRPr lang="en-US" sz="2700" dirty="0"/>
          </a:p>
        </p:txBody>
      </p:sp>
      <p:sp>
        <p:nvSpPr>
          <p:cNvPr id="4" name="Shape 2"/>
          <p:cNvSpPr/>
          <p:nvPr/>
        </p:nvSpPr>
        <p:spPr>
          <a:xfrm>
            <a:off x="548640" y="1737360"/>
            <a:ext cx="5212080" cy="4297680"/>
          </a:xfrm>
          <a:prstGeom prst="roundRect">
            <a:avLst>
              <a:gd name="adj" fmla="val 2553"/>
            </a:avLst>
          </a:prstGeom>
          <a:solidFill>
            <a:srgbClr val="028090"/>
          </a:solidFill>
          <a:ln/>
          <a:effectLst>
            <a:outerShdw blurRad="76200" dist="25400" dir="5400000" algn="bl" rotWithShape="0">
              <a:srgbClr val="013335">
                <a:alpha val="25000"/>
              </a:srgbClr>
            </a:outerShdw>
          </a:effectLst>
        </p:spPr>
      </p:sp>
      <p:sp>
        <p:nvSpPr>
          <p:cNvPr id="5" name="Text 3"/>
          <p:cNvSpPr/>
          <p:nvPr/>
        </p:nvSpPr>
        <p:spPr>
          <a:xfrm>
            <a:off x="868680" y="1965960"/>
            <a:ext cx="4572000" cy="365760"/>
          </a:xfrm>
          <a:prstGeom prst="rect">
            <a:avLst/>
          </a:prstGeom>
          <a:noFill/>
          <a:ln/>
        </p:spPr>
        <p:txBody>
          <a:bodyPr wrap="square" lIns="0" tIns="0" rIns="0" bIns="0" rtlCol="0" anchor="ctr"/>
          <a:lstStyle/>
          <a:p>
            <a:pPr marL="0" indent="0">
              <a:buNone/>
            </a:pPr>
            <a:r>
              <a:rPr lang="en-US" sz="1150" b="1" kern="0" spc="150" dirty="0">
                <a:solidFill>
                  <a:srgbClr val="02C39A"/>
                </a:solidFill>
                <a:latin typeface="Calibri" pitchFamily="34" charset="0"/>
                <a:ea typeface="Calibri" pitchFamily="34" charset="-122"/>
                <a:cs typeface="Calibri" pitchFamily="34" charset="-120"/>
              </a:rPr>
              <a:t>TRỤC 1 — THEO GIAI ĐOẠN QUY TRÌNH</a:t>
            </a:r>
            <a:endParaRPr lang="en-US" sz="1150" dirty="0"/>
          </a:p>
        </p:txBody>
      </p:sp>
      <p:sp>
        <p:nvSpPr>
          <p:cNvPr id="6" name="Text 4"/>
          <p:cNvSpPr/>
          <p:nvPr/>
        </p:nvSpPr>
        <p:spPr>
          <a:xfrm>
            <a:off x="868680" y="2377440"/>
            <a:ext cx="457200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6 khâu nối tiếp nhau</a:t>
            </a:r>
            <a:endParaRPr lang="en-US" sz="1900" dirty="0"/>
          </a:p>
        </p:txBody>
      </p:sp>
      <p:sp>
        <p:nvSpPr>
          <p:cNvPr id="7" name="Shape 5"/>
          <p:cNvSpPr/>
          <p:nvPr/>
        </p:nvSpPr>
        <p:spPr>
          <a:xfrm>
            <a:off x="868680" y="2971800"/>
            <a:ext cx="347472" cy="347472"/>
          </a:xfrm>
          <a:prstGeom prst="ellipse">
            <a:avLst/>
          </a:prstGeom>
          <a:solidFill>
            <a:srgbClr val="00A896"/>
          </a:solidFill>
          <a:ln/>
        </p:spPr>
      </p:sp>
      <p:sp>
        <p:nvSpPr>
          <p:cNvPr id="8" name="Text 6"/>
          <p:cNvSpPr/>
          <p:nvPr/>
        </p:nvSpPr>
        <p:spPr>
          <a:xfrm>
            <a:off x="868680" y="29718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325880" y="2953512"/>
            <a:ext cx="4206240" cy="38404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Lập kế hoạch kiểm thử</a:t>
            </a:r>
            <a:endParaRPr lang="en-US" sz="1250" dirty="0"/>
          </a:p>
        </p:txBody>
      </p:sp>
      <p:sp>
        <p:nvSpPr>
          <p:cNvPr id="10" name="Shape 8"/>
          <p:cNvSpPr/>
          <p:nvPr/>
        </p:nvSpPr>
        <p:spPr>
          <a:xfrm>
            <a:off x="868680" y="3456432"/>
            <a:ext cx="347472" cy="347472"/>
          </a:xfrm>
          <a:prstGeom prst="ellipse">
            <a:avLst/>
          </a:prstGeom>
          <a:solidFill>
            <a:srgbClr val="00A896"/>
          </a:solidFill>
          <a:ln/>
        </p:spPr>
      </p:sp>
      <p:sp>
        <p:nvSpPr>
          <p:cNvPr id="11" name="Text 9"/>
          <p:cNvSpPr/>
          <p:nvPr/>
        </p:nvSpPr>
        <p:spPr>
          <a:xfrm>
            <a:off x="868680" y="3456432"/>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25880" y="3438144"/>
            <a:ext cx="4206240" cy="38404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Thiết kế test case</a:t>
            </a:r>
            <a:endParaRPr lang="en-US" sz="1250" dirty="0"/>
          </a:p>
        </p:txBody>
      </p:sp>
      <p:sp>
        <p:nvSpPr>
          <p:cNvPr id="13" name="Shape 11"/>
          <p:cNvSpPr/>
          <p:nvPr/>
        </p:nvSpPr>
        <p:spPr>
          <a:xfrm>
            <a:off x="868680" y="3941064"/>
            <a:ext cx="347472" cy="347472"/>
          </a:xfrm>
          <a:prstGeom prst="ellipse">
            <a:avLst/>
          </a:prstGeom>
          <a:solidFill>
            <a:srgbClr val="00A896"/>
          </a:solidFill>
          <a:ln/>
        </p:spPr>
      </p:sp>
      <p:sp>
        <p:nvSpPr>
          <p:cNvPr id="14" name="Text 12"/>
          <p:cNvSpPr/>
          <p:nvPr/>
        </p:nvSpPr>
        <p:spPr>
          <a:xfrm>
            <a:off x="868680" y="3941064"/>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325880" y="3922776"/>
            <a:ext cx="4206240" cy="38404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Viết kịch bản tự động</a:t>
            </a:r>
            <a:endParaRPr lang="en-US" sz="1250" dirty="0"/>
          </a:p>
        </p:txBody>
      </p:sp>
      <p:sp>
        <p:nvSpPr>
          <p:cNvPr id="16" name="Shape 14"/>
          <p:cNvSpPr/>
          <p:nvPr/>
        </p:nvSpPr>
        <p:spPr>
          <a:xfrm>
            <a:off x="868680" y="4425696"/>
            <a:ext cx="347472" cy="347472"/>
          </a:xfrm>
          <a:prstGeom prst="ellipse">
            <a:avLst/>
          </a:prstGeom>
          <a:solidFill>
            <a:srgbClr val="00A896"/>
          </a:solidFill>
          <a:ln/>
        </p:spPr>
      </p:sp>
      <p:sp>
        <p:nvSpPr>
          <p:cNvPr id="17" name="Text 15"/>
          <p:cNvSpPr/>
          <p:nvPr/>
        </p:nvSpPr>
        <p:spPr>
          <a:xfrm>
            <a:off x="868680" y="442569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325880" y="4407408"/>
            <a:ext cx="4206240" cy="38404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Thực thi kiểm thử</a:t>
            </a:r>
            <a:endParaRPr lang="en-US" sz="1250" dirty="0"/>
          </a:p>
        </p:txBody>
      </p:sp>
      <p:sp>
        <p:nvSpPr>
          <p:cNvPr id="19" name="Shape 17"/>
          <p:cNvSpPr/>
          <p:nvPr/>
        </p:nvSpPr>
        <p:spPr>
          <a:xfrm>
            <a:off x="868680" y="4910328"/>
            <a:ext cx="347472" cy="347472"/>
          </a:xfrm>
          <a:prstGeom prst="ellipse">
            <a:avLst/>
          </a:prstGeom>
          <a:solidFill>
            <a:srgbClr val="00A896"/>
          </a:solidFill>
          <a:ln/>
        </p:spPr>
      </p:sp>
      <p:sp>
        <p:nvSpPr>
          <p:cNvPr id="20" name="Text 18"/>
          <p:cNvSpPr/>
          <p:nvPr/>
        </p:nvSpPr>
        <p:spPr>
          <a:xfrm>
            <a:off x="868680" y="4910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p:nvPr/>
        </p:nvSpPr>
        <p:spPr>
          <a:xfrm>
            <a:off x="1325880" y="4892040"/>
            <a:ext cx="4206240" cy="38404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Phát hiện &amp; báo cáo lỗi</a:t>
            </a:r>
            <a:endParaRPr lang="en-US" sz="1250" dirty="0"/>
          </a:p>
        </p:txBody>
      </p:sp>
      <p:sp>
        <p:nvSpPr>
          <p:cNvPr id="22" name="Shape 20"/>
          <p:cNvSpPr/>
          <p:nvPr/>
        </p:nvSpPr>
        <p:spPr>
          <a:xfrm>
            <a:off x="868680" y="5394960"/>
            <a:ext cx="347472" cy="347472"/>
          </a:xfrm>
          <a:prstGeom prst="ellipse">
            <a:avLst/>
          </a:prstGeom>
          <a:solidFill>
            <a:srgbClr val="00A896"/>
          </a:solidFill>
          <a:ln/>
        </p:spPr>
      </p:sp>
      <p:sp>
        <p:nvSpPr>
          <p:cNvPr id="23" name="Text 21"/>
          <p:cNvSpPr/>
          <p:nvPr/>
        </p:nvSpPr>
        <p:spPr>
          <a:xfrm>
            <a:off x="868680" y="53949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4" name="Text 22"/>
          <p:cNvSpPr/>
          <p:nvPr/>
        </p:nvSpPr>
        <p:spPr>
          <a:xfrm>
            <a:off x="1325880" y="5376672"/>
            <a:ext cx="4206240" cy="38404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Kiểm thử hồi quy</a:t>
            </a:r>
            <a:endParaRPr lang="en-US" sz="1250" dirty="0"/>
          </a:p>
        </p:txBody>
      </p:sp>
      <p:sp>
        <p:nvSpPr>
          <p:cNvPr id="25" name="Shape 23"/>
          <p:cNvSpPr/>
          <p:nvPr/>
        </p:nvSpPr>
        <p:spPr>
          <a:xfrm>
            <a:off x="5943600" y="1737360"/>
            <a:ext cx="5669280" cy="4297680"/>
          </a:xfrm>
          <a:prstGeom prst="roundRect">
            <a:avLst>
              <a:gd name="adj" fmla="val 2553"/>
            </a:avLst>
          </a:prstGeom>
          <a:solidFill>
            <a:srgbClr val="F3F8F8"/>
          </a:solidFill>
          <a:ln w="12700">
            <a:solidFill>
              <a:srgbClr val="D7E7E6"/>
            </a:solidFill>
            <a:prstDash val="solid"/>
          </a:ln>
        </p:spPr>
      </p:sp>
      <p:sp>
        <p:nvSpPr>
          <p:cNvPr id="26" name="Text 24"/>
          <p:cNvSpPr/>
          <p:nvPr/>
        </p:nvSpPr>
        <p:spPr>
          <a:xfrm>
            <a:off x="6263640" y="1965960"/>
            <a:ext cx="5029200" cy="365760"/>
          </a:xfrm>
          <a:prstGeom prst="rect">
            <a:avLst/>
          </a:prstGeom>
          <a:noFill/>
          <a:ln/>
        </p:spPr>
        <p:txBody>
          <a:bodyPr wrap="square" lIns="0" tIns="0" rIns="0" bIns="0" rtlCol="0" anchor="ctr"/>
          <a:lstStyle/>
          <a:p>
            <a:pPr marL="0" indent="0">
              <a:buNone/>
            </a:pPr>
            <a:r>
              <a:rPr lang="en-US" sz="1150" b="1" kern="0" spc="150" dirty="0">
                <a:solidFill>
                  <a:srgbClr val="028090"/>
                </a:solidFill>
                <a:latin typeface="Calibri" pitchFamily="34" charset="0"/>
                <a:ea typeface="Calibri" pitchFamily="34" charset="-122"/>
                <a:cs typeface="Calibri" pitchFamily="34" charset="-120"/>
              </a:rPr>
              <a:t>TRỤC 2 — THEO LOẠI HÌNH KIỂM THỬ</a:t>
            </a:r>
            <a:endParaRPr lang="en-US" sz="1150" dirty="0"/>
          </a:p>
        </p:txBody>
      </p:sp>
      <p:sp>
        <p:nvSpPr>
          <p:cNvPr id="27" name="Text 25"/>
          <p:cNvSpPr/>
          <p:nvPr/>
        </p:nvSpPr>
        <p:spPr>
          <a:xfrm>
            <a:off x="6263640" y="2377440"/>
            <a:ext cx="5029200" cy="457200"/>
          </a:xfrm>
          <a:prstGeom prst="rect">
            <a:avLst/>
          </a:prstGeom>
          <a:noFill/>
          <a:ln/>
        </p:spPr>
        <p:txBody>
          <a:bodyPr wrap="square" lIns="0" tIns="0" rIns="0" bIns="0" rtlCol="0" anchor="ctr"/>
          <a:lstStyle/>
          <a:p>
            <a:pPr marL="0" indent="0">
              <a:buNone/>
            </a:pPr>
            <a:r>
              <a:rPr lang="en-US" sz="1900" b="1" dirty="0">
                <a:solidFill>
                  <a:srgbClr val="0B2E33"/>
                </a:solidFill>
                <a:latin typeface="Cambria" pitchFamily="34" charset="0"/>
                <a:ea typeface="Cambria" pitchFamily="34" charset="-122"/>
                <a:cs typeface="Cambria" pitchFamily="34" charset="-120"/>
              </a:rPr>
              <a:t>4 nhóm song song</a:t>
            </a:r>
            <a:endParaRPr lang="en-US" sz="1900" dirty="0"/>
          </a:p>
        </p:txBody>
      </p:sp>
      <p:sp>
        <p:nvSpPr>
          <p:cNvPr id="28" name="Shape 26"/>
          <p:cNvSpPr/>
          <p:nvPr/>
        </p:nvSpPr>
        <p:spPr>
          <a:xfrm>
            <a:off x="6263640" y="2971800"/>
            <a:ext cx="5029200" cy="502920"/>
          </a:xfrm>
          <a:prstGeom prst="roundRect">
            <a:avLst>
              <a:gd name="adj" fmla="val 10909"/>
            </a:avLst>
          </a:prstGeom>
          <a:solidFill>
            <a:srgbClr val="FFFFFF"/>
          </a:solidFill>
          <a:ln w="12700">
            <a:solidFill>
              <a:srgbClr val="D7E7E6"/>
            </a:solidFill>
            <a:prstDash val="solid"/>
          </a:ln>
        </p:spPr>
      </p:sp>
      <p:sp>
        <p:nvSpPr>
          <p:cNvPr id="29" name="Shape 27"/>
          <p:cNvSpPr/>
          <p:nvPr/>
        </p:nvSpPr>
        <p:spPr>
          <a:xfrm>
            <a:off x="6263640" y="2971800"/>
            <a:ext cx="91440" cy="502920"/>
          </a:xfrm>
          <a:prstGeom prst="rect">
            <a:avLst/>
          </a:prstGeom>
          <a:solidFill>
            <a:srgbClr val="028090"/>
          </a:solidFill>
          <a:ln/>
        </p:spPr>
      </p:sp>
      <p:sp>
        <p:nvSpPr>
          <p:cNvPr id="30" name="Text 28"/>
          <p:cNvSpPr/>
          <p:nvPr/>
        </p:nvSpPr>
        <p:spPr>
          <a:xfrm>
            <a:off x="6492240" y="2971800"/>
            <a:ext cx="4663440" cy="502920"/>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Unit &amp; Functional Testing</a:t>
            </a:r>
            <a:endParaRPr lang="en-US" sz="1300" dirty="0"/>
          </a:p>
        </p:txBody>
      </p:sp>
      <p:sp>
        <p:nvSpPr>
          <p:cNvPr id="31" name="Shape 29"/>
          <p:cNvSpPr/>
          <p:nvPr/>
        </p:nvSpPr>
        <p:spPr>
          <a:xfrm>
            <a:off x="6263640" y="3611880"/>
            <a:ext cx="5029200" cy="502920"/>
          </a:xfrm>
          <a:prstGeom prst="roundRect">
            <a:avLst>
              <a:gd name="adj" fmla="val 10909"/>
            </a:avLst>
          </a:prstGeom>
          <a:solidFill>
            <a:srgbClr val="FFFFFF"/>
          </a:solidFill>
          <a:ln w="12700">
            <a:solidFill>
              <a:srgbClr val="D7E7E6"/>
            </a:solidFill>
            <a:prstDash val="solid"/>
          </a:ln>
        </p:spPr>
      </p:sp>
      <p:sp>
        <p:nvSpPr>
          <p:cNvPr id="32" name="Shape 30"/>
          <p:cNvSpPr/>
          <p:nvPr/>
        </p:nvSpPr>
        <p:spPr>
          <a:xfrm>
            <a:off x="6263640" y="3611880"/>
            <a:ext cx="91440" cy="502920"/>
          </a:xfrm>
          <a:prstGeom prst="rect">
            <a:avLst/>
          </a:prstGeom>
          <a:solidFill>
            <a:srgbClr val="00A896"/>
          </a:solidFill>
          <a:ln/>
        </p:spPr>
      </p:sp>
      <p:sp>
        <p:nvSpPr>
          <p:cNvPr id="33" name="Text 31"/>
          <p:cNvSpPr/>
          <p:nvPr/>
        </p:nvSpPr>
        <p:spPr>
          <a:xfrm>
            <a:off x="6492240" y="3611880"/>
            <a:ext cx="4663440" cy="502920"/>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UI &amp; Visual Testing</a:t>
            </a:r>
            <a:endParaRPr lang="en-US" sz="1300" dirty="0"/>
          </a:p>
        </p:txBody>
      </p:sp>
      <p:sp>
        <p:nvSpPr>
          <p:cNvPr id="34" name="Shape 32"/>
          <p:cNvSpPr/>
          <p:nvPr/>
        </p:nvSpPr>
        <p:spPr>
          <a:xfrm>
            <a:off x="6263640" y="4251960"/>
            <a:ext cx="5029200" cy="502920"/>
          </a:xfrm>
          <a:prstGeom prst="roundRect">
            <a:avLst>
              <a:gd name="adj" fmla="val 10909"/>
            </a:avLst>
          </a:prstGeom>
          <a:solidFill>
            <a:srgbClr val="FFFFFF"/>
          </a:solidFill>
          <a:ln w="12700">
            <a:solidFill>
              <a:srgbClr val="D7E7E6"/>
            </a:solidFill>
            <a:prstDash val="solid"/>
          </a:ln>
        </p:spPr>
      </p:sp>
      <p:sp>
        <p:nvSpPr>
          <p:cNvPr id="35" name="Shape 33"/>
          <p:cNvSpPr/>
          <p:nvPr/>
        </p:nvSpPr>
        <p:spPr>
          <a:xfrm>
            <a:off x="6263640" y="4251960"/>
            <a:ext cx="91440" cy="502920"/>
          </a:xfrm>
          <a:prstGeom prst="rect">
            <a:avLst/>
          </a:prstGeom>
          <a:solidFill>
            <a:srgbClr val="C1440E"/>
          </a:solidFill>
          <a:ln/>
        </p:spPr>
      </p:sp>
      <p:sp>
        <p:nvSpPr>
          <p:cNvPr id="36" name="Text 34"/>
          <p:cNvSpPr/>
          <p:nvPr/>
        </p:nvSpPr>
        <p:spPr>
          <a:xfrm>
            <a:off x="6492240" y="4251960"/>
            <a:ext cx="4663440" cy="502920"/>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Security Testing</a:t>
            </a:r>
            <a:endParaRPr lang="en-US" sz="1300" dirty="0"/>
          </a:p>
        </p:txBody>
      </p:sp>
      <p:sp>
        <p:nvSpPr>
          <p:cNvPr id="37" name="Shape 35"/>
          <p:cNvSpPr/>
          <p:nvPr/>
        </p:nvSpPr>
        <p:spPr>
          <a:xfrm>
            <a:off x="6263640" y="4892040"/>
            <a:ext cx="5029200" cy="502920"/>
          </a:xfrm>
          <a:prstGeom prst="roundRect">
            <a:avLst>
              <a:gd name="adj" fmla="val 10909"/>
            </a:avLst>
          </a:prstGeom>
          <a:solidFill>
            <a:srgbClr val="FFFFFF"/>
          </a:solidFill>
          <a:ln w="12700">
            <a:solidFill>
              <a:srgbClr val="D7E7E6"/>
            </a:solidFill>
            <a:prstDash val="solid"/>
          </a:ln>
        </p:spPr>
      </p:sp>
      <p:sp>
        <p:nvSpPr>
          <p:cNvPr id="38" name="Shape 36"/>
          <p:cNvSpPr/>
          <p:nvPr/>
        </p:nvSpPr>
        <p:spPr>
          <a:xfrm>
            <a:off x="6263640" y="4892040"/>
            <a:ext cx="91440" cy="502920"/>
          </a:xfrm>
          <a:prstGeom prst="rect">
            <a:avLst/>
          </a:prstGeom>
          <a:solidFill>
            <a:srgbClr val="02C39A"/>
          </a:solidFill>
          <a:ln/>
        </p:spPr>
      </p:sp>
      <p:sp>
        <p:nvSpPr>
          <p:cNvPr id="39" name="Text 37"/>
          <p:cNvSpPr/>
          <p:nvPr/>
        </p:nvSpPr>
        <p:spPr>
          <a:xfrm>
            <a:off x="6492240" y="4892040"/>
            <a:ext cx="4663440" cy="502920"/>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Performance Testing</a:t>
            </a:r>
            <a:endParaRPr lang="en-US" sz="1300" dirty="0"/>
          </a:p>
        </p:txBody>
      </p:sp>
      <p:sp>
        <p:nvSpPr>
          <p:cNvPr id="40" name="Text 38"/>
          <p:cNvSpPr/>
          <p:nvPr/>
        </p:nvSpPr>
        <p:spPr>
          <a:xfrm>
            <a:off x="548640" y="6172200"/>
            <a:ext cx="10881360" cy="457200"/>
          </a:xfrm>
          <a:prstGeom prst="rect">
            <a:avLst/>
          </a:prstGeom>
          <a:noFill/>
          <a:ln/>
        </p:spPr>
        <p:txBody>
          <a:bodyPr wrap="square" lIns="0" tIns="0" rIns="0" bIns="0" rtlCol="0" anchor="ctr"/>
          <a:lstStyle/>
          <a:p>
            <a:pPr marL="0" indent="0">
              <a:lnSpc>
                <a:spcPts val="1500"/>
              </a:lnSpc>
              <a:buNone/>
            </a:pPr>
            <a:r>
              <a:rPr lang="en-US" sz="1150" i="1" dirty="0">
                <a:solidFill>
                  <a:srgbClr val="5B7B7E"/>
                </a:solidFill>
                <a:latin typeface="Calibri" pitchFamily="34" charset="0"/>
                <a:ea typeface="Calibri" pitchFamily="34" charset="-122"/>
                <a:cs typeface="Calibri" pitchFamily="34" charset="-120"/>
              </a:rPr>
              <a:t>Hai trục này không tách rời: mỗi loại hình kiểm thử ở Trục 2 đều "chạy qua" đủ 6 khâu của Trục 1. Phần cuối báo cáo trình bày ma trận tổng hợp hai trục.</a:t>
            </a:r>
            <a:endParaRPr lang="en-US" sz="1150" dirty="0"/>
          </a:p>
        </p:txBody>
      </p:sp>
      <p:sp>
        <p:nvSpPr>
          <p:cNvPr id="41" name="Text 39"/>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42" name="Text 40"/>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TRỤC 1</a:t>
            </a:r>
            <a:endParaRPr lang="en-US" sz="1200" dirty="0"/>
          </a:p>
        </p:txBody>
      </p:sp>
      <p:sp>
        <p:nvSpPr>
          <p:cNvPr id="3" name="Text 1"/>
          <p:cNvSpPr/>
          <p:nvPr/>
        </p:nvSpPr>
        <p:spPr>
          <a:xfrm>
            <a:off x="548640" y="685800"/>
            <a:ext cx="10789920" cy="640080"/>
          </a:xfrm>
          <a:prstGeom prst="rect">
            <a:avLst/>
          </a:prstGeom>
          <a:noFill/>
          <a:ln/>
        </p:spPr>
        <p:txBody>
          <a:bodyPr wrap="square" lIns="0" tIns="0" rIns="0" bIns="0" rtlCol="0" anchor="ctr"/>
          <a:lstStyle/>
          <a:p>
            <a:pPr marL="0" indent="0">
              <a:buNone/>
            </a:pPr>
            <a:r>
              <a:rPr lang="en-US" sz="2700" b="1" dirty="0">
                <a:solidFill>
                  <a:srgbClr val="0B2E33"/>
                </a:solidFill>
                <a:latin typeface="Cambria" pitchFamily="34" charset="0"/>
                <a:ea typeface="Cambria" pitchFamily="34" charset="-122"/>
                <a:cs typeface="Cambria" pitchFamily="34" charset="-120"/>
              </a:rPr>
              <a:t>Codex theo từng giai đoạn quy trình</a:t>
            </a:r>
            <a:endParaRPr lang="en-US" sz="2700" dirty="0"/>
          </a:p>
        </p:txBody>
      </p:sp>
      <p:sp>
        <p:nvSpPr>
          <p:cNvPr id="4" name="Shape 2"/>
          <p:cNvSpPr/>
          <p:nvPr/>
        </p:nvSpPr>
        <p:spPr>
          <a:xfrm>
            <a:off x="548640" y="1691640"/>
            <a:ext cx="10881360" cy="658368"/>
          </a:xfrm>
          <a:prstGeom prst="roundRect">
            <a:avLst>
              <a:gd name="adj" fmla="val 11111"/>
            </a:avLst>
          </a:prstGeom>
          <a:solidFill>
            <a:srgbClr val="FFFFFF"/>
          </a:solidFill>
          <a:ln w="9525">
            <a:solidFill>
              <a:srgbClr val="D7E7E6"/>
            </a:solidFill>
            <a:prstDash val="solid"/>
          </a:ln>
        </p:spPr>
      </p:sp>
      <p:sp>
        <p:nvSpPr>
          <p:cNvPr id="5" name="Shape 3"/>
          <p:cNvSpPr/>
          <p:nvPr/>
        </p:nvSpPr>
        <p:spPr>
          <a:xfrm>
            <a:off x="713232" y="1773936"/>
            <a:ext cx="493776" cy="493776"/>
          </a:xfrm>
          <a:prstGeom prst="ellipse">
            <a:avLst/>
          </a:prstGeom>
          <a:solidFill>
            <a:srgbClr val="028090"/>
          </a:solidFill>
          <a:ln/>
        </p:spPr>
      </p:sp>
      <p:sp>
        <p:nvSpPr>
          <p:cNvPr id="6" name="Text 4"/>
          <p:cNvSpPr/>
          <p:nvPr/>
        </p:nvSpPr>
        <p:spPr>
          <a:xfrm>
            <a:off x="713232" y="17739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417320" y="1719072"/>
            <a:ext cx="3108960" cy="603504"/>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Lập kế hoạch kiểm thử</a:t>
            </a:r>
            <a:endParaRPr lang="en-US" sz="1300" dirty="0"/>
          </a:p>
        </p:txBody>
      </p:sp>
      <p:sp>
        <p:nvSpPr>
          <p:cNvPr id="8" name="Text 6"/>
          <p:cNvSpPr/>
          <p:nvPr/>
        </p:nvSpPr>
        <p:spPr>
          <a:xfrm>
            <a:off x="4663440" y="1719072"/>
            <a:ext cx="6583680" cy="603504"/>
          </a:xfrm>
          <a:prstGeom prst="rect">
            <a:avLst/>
          </a:prstGeom>
          <a:noFill/>
          <a:ln/>
        </p:spPr>
        <p:txBody>
          <a:bodyPr wrap="square" lIns="0" tIns="0" rIns="0" bIns="0" rtlCol="0" anchor="ctr"/>
          <a:lstStyle/>
          <a:p>
            <a:pPr marL="0" indent="0">
              <a:lnSpc>
                <a:spcPts val="1400"/>
              </a:lnSpc>
              <a:buNone/>
            </a:pPr>
            <a:r>
              <a:rPr lang="en-US" sz="1150" dirty="0">
                <a:solidFill>
                  <a:srgbClr val="5B7B7E"/>
                </a:solidFill>
                <a:latin typeface="Calibri" pitchFamily="34" charset="0"/>
                <a:ea typeface="Calibri" pitchFamily="34" charset="-122"/>
                <a:cs typeface="Calibri" pitchFamily="34" charset="-120"/>
              </a:rPr>
              <a:t>Tóm tắt yêu cầu, đề xuất phạm vi &amp; ma trận truy vết</a:t>
            </a:r>
            <a:endParaRPr lang="en-US" sz="1150" dirty="0"/>
          </a:p>
        </p:txBody>
      </p:sp>
      <p:sp>
        <p:nvSpPr>
          <p:cNvPr id="9" name="Shape 7"/>
          <p:cNvSpPr/>
          <p:nvPr/>
        </p:nvSpPr>
        <p:spPr>
          <a:xfrm>
            <a:off x="548640" y="2468880"/>
            <a:ext cx="10881360" cy="658368"/>
          </a:xfrm>
          <a:prstGeom prst="roundRect">
            <a:avLst>
              <a:gd name="adj" fmla="val 11111"/>
            </a:avLst>
          </a:prstGeom>
          <a:solidFill>
            <a:srgbClr val="F3F8F8"/>
          </a:solidFill>
          <a:ln w="9525">
            <a:solidFill>
              <a:srgbClr val="D7E7E6"/>
            </a:solidFill>
            <a:prstDash val="solid"/>
          </a:ln>
        </p:spPr>
      </p:sp>
      <p:sp>
        <p:nvSpPr>
          <p:cNvPr id="10" name="Shape 8"/>
          <p:cNvSpPr/>
          <p:nvPr/>
        </p:nvSpPr>
        <p:spPr>
          <a:xfrm>
            <a:off x="713232" y="2551176"/>
            <a:ext cx="493776" cy="493776"/>
          </a:xfrm>
          <a:prstGeom prst="ellipse">
            <a:avLst/>
          </a:prstGeom>
          <a:solidFill>
            <a:srgbClr val="00A896"/>
          </a:solidFill>
          <a:ln/>
        </p:spPr>
      </p:sp>
      <p:sp>
        <p:nvSpPr>
          <p:cNvPr id="11" name="Text 9"/>
          <p:cNvSpPr/>
          <p:nvPr/>
        </p:nvSpPr>
        <p:spPr>
          <a:xfrm>
            <a:off x="713232" y="255117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417320" y="2496312"/>
            <a:ext cx="3108960" cy="603504"/>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Thiết kế test case</a:t>
            </a:r>
            <a:endParaRPr lang="en-US" sz="1300" dirty="0"/>
          </a:p>
        </p:txBody>
      </p:sp>
      <p:sp>
        <p:nvSpPr>
          <p:cNvPr id="13" name="Text 11"/>
          <p:cNvSpPr/>
          <p:nvPr/>
        </p:nvSpPr>
        <p:spPr>
          <a:xfrm>
            <a:off x="4663440" y="2496312"/>
            <a:ext cx="6583680" cy="603504"/>
          </a:xfrm>
          <a:prstGeom prst="rect">
            <a:avLst/>
          </a:prstGeom>
          <a:noFill/>
          <a:ln/>
        </p:spPr>
        <p:txBody>
          <a:bodyPr wrap="square" lIns="0" tIns="0" rIns="0" bIns="0" rtlCol="0" anchor="ctr"/>
          <a:lstStyle/>
          <a:p>
            <a:pPr marL="0" indent="0">
              <a:lnSpc>
                <a:spcPts val="1400"/>
              </a:lnSpc>
              <a:buNone/>
            </a:pPr>
            <a:r>
              <a:rPr lang="en-US" sz="1150" dirty="0">
                <a:solidFill>
                  <a:srgbClr val="5B7B7E"/>
                </a:solidFill>
                <a:latin typeface="Calibri" pitchFamily="34" charset="0"/>
                <a:ea typeface="Calibri" pitchFamily="34" charset="-122"/>
                <a:cs typeface="Calibri" pitchFamily="34" charset="-120"/>
              </a:rPr>
              <a:t>Sinh test case hộp đen, chủ động đề xuất case biên/case âm</a:t>
            </a:r>
            <a:endParaRPr lang="en-US" sz="1150" dirty="0"/>
          </a:p>
        </p:txBody>
      </p:sp>
      <p:sp>
        <p:nvSpPr>
          <p:cNvPr id="14" name="Shape 12"/>
          <p:cNvSpPr/>
          <p:nvPr/>
        </p:nvSpPr>
        <p:spPr>
          <a:xfrm>
            <a:off x="548640" y="3246120"/>
            <a:ext cx="10881360" cy="658368"/>
          </a:xfrm>
          <a:prstGeom prst="roundRect">
            <a:avLst>
              <a:gd name="adj" fmla="val 11111"/>
            </a:avLst>
          </a:prstGeom>
          <a:solidFill>
            <a:srgbClr val="FFFFFF"/>
          </a:solidFill>
          <a:ln w="9525">
            <a:solidFill>
              <a:srgbClr val="D7E7E6"/>
            </a:solidFill>
            <a:prstDash val="solid"/>
          </a:ln>
        </p:spPr>
      </p:sp>
      <p:sp>
        <p:nvSpPr>
          <p:cNvPr id="15" name="Shape 13"/>
          <p:cNvSpPr/>
          <p:nvPr/>
        </p:nvSpPr>
        <p:spPr>
          <a:xfrm>
            <a:off x="713232" y="3328416"/>
            <a:ext cx="493776" cy="493776"/>
          </a:xfrm>
          <a:prstGeom prst="ellipse">
            <a:avLst/>
          </a:prstGeom>
          <a:solidFill>
            <a:srgbClr val="02C39A"/>
          </a:solidFill>
          <a:ln/>
        </p:spPr>
      </p:sp>
      <p:sp>
        <p:nvSpPr>
          <p:cNvPr id="16" name="Text 14"/>
          <p:cNvSpPr/>
          <p:nvPr/>
        </p:nvSpPr>
        <p:spPr>
          <a:xfrm>
            <a:off x="713232" y="332841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417320" y="3273552"/>
            <a:ext cx="3108960" cy="603504"/>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Viết kịch bản tự động</a:t>
            </a:r>
            <a:endParaRPr lang="en-US" sz="1300" dirty="0"/>
          </a:p>
        </p:txBody>
      </p:sp>
      <p:sp>
        <p:nvSpPr>
          <p:cNvPr id="18" name="Text 16"/>
          <p:cNvSpPr/>
          <p:nvPr/>
        </p:nvSpPr>
        <p:spPr>
          <a:xfrm>
            <a:off x="4663440" y="3273552"/>
            <a:ext cx="6583680" cy="603504"/>
          </a:xfrm>
          <a:prstGeom prst="rect">
            <a:avLst/>
          </a:prstGeom>
          <a:noFill/>
          <a:ln/>
        </p:spPr>
        <p:txBody>
          <a:bodyPr wrap="square" lIns="0" tIns="0" rIns="0" bIns="0" rtlCol="0" anchor="ctr"/>
          <a:lstStyle/>
          <a:p>
            <a:pPr marL="0" indent="0">
              <a:lnSpc>
                <a:spcPts val="1400"/>
              </a:lnSpc>
              <a:buNone/>
            </a:pPr>
            <a:r>
              <a:rPr lang="en-US" sz="1150" dirty="0">
                <a:solidFill>
                  <a:srgbClr val="5B7B7E"/>
                </a:solidFill>
                <a:latin typeface="Calibri" pitchFamily="34" charset="0"/>
                <a:ea typeface="Calibri" pitchFamily="34" charset="-122"/>
                <a:cs typeface="Calibri" pitchFamily="34" charset="-120"/>
              </a:rPr>
              <a:t>Sinh script unit/integration/UI, tự dựng mock &amp; dữ liệu</a:t>
            </a:r>
            <a:endParaRPr lang="en-US" sz="1150" dirty="0"/>
          </a:p>
        </p:txBody>
      </p:sp>
      <p:sp>
        <p:nvSpPr>
          <p:cNvPr id="19" name="Shape 17"/>
          <p:cNvSpPr/>
          <p:nvPr/>
        </p:nvSpPr>
        <p:spPr>
          <a:xfrm>
            <a:off x="548640" y="4023360"/>
            <a:ext cx="10881360" cy="658368"/>
          </a:xfrm>
          <a:prstGeom prst="roundRect">
            <a:avLst>
              <a:gd name="adj" fmla="val 11111"/>
            </a:avLst>
          </a:prstGeom>
          <a:solidFill>
            <a:srgbClr val="F3F8F8"/>
          </a:solidFill>
          <a:ln w="9525">
            <a:solidFill>
              <a:srgbClr val="D7E7E6"/>
            </a:solidFill>
            <a:prstDash val="solid"/>
          </a:ln>
        </p:spPr>
      </p:sp>
      <p:sp>
        <p:nvSpPr>
          <p:cNvPr id="20" name="Shape 18"/>
          <p:cNvSpPr/>
          <p:nvPr/>
        </p:nvSpPr>
        <p:spPr>
          <a:xfrm>
            <a:off x="713232" y="4105656"/>
            <a:ext cx="493776" cy="493776"/>
          </a:xfrm>
          <a:prstGeom prst="ellipse">
            <a:avLst/>
          </a:prstGeom>
          <a:solidFill>
            <a:srgbClr val="028090"/>
          </a:solidFill>
          <a:ln/>
        </p:spPr>
      </p:sp>
      <p:sp>
        <p:nvSpPr>
          <p:cNvPr id="21" name="Text 19"/>
          <p:cNvSpPr/>
          <p:nvPr/>
        </p:nvSpPr>
        <p:spPr>
          <a:xfrm>
            <a:off x="713232" y="410565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1417320" y="4050792"/>
            <a:ext cx="3108960" cy="603504"/>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Thực thi kiểm thử</a:t>
            </a:r>
            <a:endParaRPr lang="en-US" sz="1300" dirty="0"/>
          </a:p>
        </p:txBody>
      </p:sp>
      <p:sp>
        <p:nvSpPr>
          <p:cNvPr id="23" name="Text 21"/>
          <p:cNvSpPr/>
          <p:nvPr/>
        </p:nvSpPr>
        <p:spPr>
          <a:xfrm>
            <a:off x="4663440" y="4050792"/>
            <a:ext cx="6583680" cy="603504"/>
          </a:xfrm>
          <a:prstGeom prst="rect">
            <a:avLst/>
          </a:prstGeom>
          <a:noFill/>
          <a:ln/>
        </p:spPr>
        <p:txBody>
          <a:bodyPr wrap="square" lIns="0" tIns="0" rIns="0" bIns="0" rtlCol="0" anchor="ctr"/>
          <a:lstStyle/>
          <a:p>
            <a:pPr marL="0" indent="0">
              <a:lnSpc>
                <a:spcPts val="1400"/>
              </a:lnSpc>
              <a:buNone/>
            </a:pPr>
            <a:r>
              <a:rPr lang="en-US" sz="1150" dirty="0">
                <a:solidFill>
                  <a:srgbClr val="5B7B7E"/>
                </a:solidFill>
                <a:latin typeface="Calibri" pitchFamily="34" charset="0"/>
                <a:ea typeface="Calibri" pitchFamily="34" charset="-122"/>
                <a:cs typeface="Calibri" pitchFamily="34" charset="-120"/>
              </a:rPr>
              <a:t>Tích hợp CI/CD, tóm tắt log lỗi thành nguyên nhân gốc</a:t>
            </a:r>
            <a:endParaRPr lang="en-US" sz="1150" dirty="0"/>
          </a:p>
        </p:txBody>
      </p:sp>
      <p:sp>
        <p:nvSpPr>
          <p:cNvPr id="24" name="Shape 22"/>
          <p:cNvSpPr/>
          <p:nvPr/>
        </p:nvSpPr>
        <p:spPr>
          <a:xfrm>
            <a:off x="548640" y="4800600"/>
            <a:ext cx="10881360" cy="658368"/>
          </a:xfrm>
          <a:prstGeom prst="roundRect">
            <a:avLst>
              <a:gd name="adj" fmla="val 11111"/>
            </a:avLst>
          </a:prstGeom>
          <a:solidFill>
            <a:srgbClr val="FFFFFF"/>
          </a:solidFill>
          <a:ln w="9525">
            <a:solidFill>
              <a:srgbClr val="D7E7E6"/>
            </a:solidFill>
            <a:prstDash val="solid"/>
          </a:ln>
        </p:spPr>
      </p:sp>
      <p:sp>
        <p:nvSpPr>
          <p:cNvPr id="25" name="Shape 23"/>
          <p:cNvSpPr/>
          <p:nvPr/>
        </p:nvSpPr>
        <p:spPr>
          <a:xfrm>
            <a:off x="713232" y="4882896"/>
            <a:ext cx="493776" cy="493776"/>
          </a:xfrm>
          <a:prstGeom prst="ellipse">
            <a:avLst/>
          </a:prstGeom>
          <a:solidFill>
            <a:srgbClr val="00A896"/>
          </a:solidFill>
          <a:ln/>
        </p:spPr>
      </p:sp>
      <p:sp>
        <p:nvSpPr>
          <p:cNvPr id="26" name="Text 24"/>
          <p:cNvSpPr/>
          <p:nvPr/>
        </p:nvSpPr>
        <p:spPr>
          <a:xfrm>
            <a:off x="713232" y="488289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7" name="Text 25"/>
          <p:cNvSpPr/>
          <p:nvPr/>
        </p:nvSpPr>
        <p:spPr>
          <a:xfrm>
            <a:off x="1417320" y="4828032"/>
            <a:ext cx="3108960" cy="603504"/>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Phát hiện &amp; báo cáo lỗi</a:t>
            </a:r>
            <a:endParaRPr lang="en-US" sz="1300" dirty="0"/>
          </a:p>
        </p:txBody>
      </p:sp>
      <p:sp>
        <p:nvSpPr>
          <p:cNvPr id="28" name="Text 26"/>
          <p:cNvSpPr/>
          <p:nvPr/>
        </p:nvSpPr>
        <p:spPr>
          <a:xfrm>
            <a:off x="4663440" y="4828032"/>
            <a:ext cx="6583680" cy="603504"/>
          </a:xfrm>
          <a:prstGeom prst="rect">
            <a:avLst/>
          </a:prstGeom>
          <a:noFill/>
          <a:ln/>
        </p:spPr>
        <p:txBody>
          <a:bodyPr wrap="square" lIns="0" tIns="0" rIns="0" bIns="0" rtlCol="0" anchor="ctr"/>
          <a:lstStyle/>
          <a:p>
            <a:pPr marL="0" indent="0">
              <a:lnSpc>
                <a:spcPts val="1400"/>
              </a:lnSpc>
              <a:buNone/>
            </a:pPr>
            <a:r>
              <a:rPr lang="en-US" sz="1150" dirty="0">
                <a:solidFill>
                  <a:srgbClr val="5B7B7E"/>
                </a:solidFill>
                <a:latin typeface="Calibri" pitchFamily="34" charset="0"/>
                <a:ea typeface="Calibri" pitchFamily="34" charset="-122"/>
                <a:cs typeface="Calibri" pitchFamily="34" charset="-120"/>
              </a:rPr>
              <a:t>Phân tích stack trace, sinh bug report chuẩn hoá</a:t>
            </a:r>
            <a:endParaRPr lang="en-US" sz="1150" dirty="0"/>
          </a:p>
        </p:txBody>
      </p:sp>
      <p:sp>
        <p:nvSpPr>
          <p:cNvPr id="29" name="Shape 27"/>
          <p:cNvSpPr/>
          <p:nvPr/>
        </p:nvSpPr>
        <p:spPr>
          <a:xfrm>
            <a:off x="548640" y="5577840"/>
            <a:ext cx="10881360" cy="658368"/>
          </a:xfrm>
          <a:prstGeom prst="roundRect">
            <a:avLst>
              <a:gd name="adj" fmla="val 11111"/>
            </a:avLst>
          </a:prstGeom>
          <a:solidFill>
            <a:srgbClr val="F3F8F8"/>
          </a:solidFill>
          <a:ln w="9525">
            <a:solidFill>
              <a:srgbClr val="D7E7E6"/>
            </a:solidFill>
            <a:prstDash val="solid"/>
          </a:ln>
        </p:spPr>
      </p:sp>
      <p:sp>
        <p:nvSpPr>
          <p:cNvPr id="30" name="Shape 28"/>
          <p:cNvSpPr/>
          <p:nvPr/>
        </p:nvSpPr>
        <p:spPr>
          <a:xfrm>
            <a:off x="713232" y="5660136"/>
            <a:ext cx="493776" cy="493776"/>
          </a:xfrm>
          <a:prstGeom prst="ellipse">
            <a:avLst/>
          </a:prstGeom>
          <a:solidFill>
            <a:srgbClr val="02C39A"/>
          </a:solidFill>
          <a:ln/>
        </p:spPr>
      </p:sp>
      <p:sp>
        <p:nvSpPr>
          <p:cNvPr id="31" name="Text 29"/>
          <p:cNvSpPr/>
          <p:nvPr/>
        </p:nvSpPr>
        <p:spPr>
          <a:xfrm>
            <a:off x="713232" y="5660136"/>
            <a:ext cx="493776" cy="49377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2" name="Text 30"/>
          <p:cNvSpPr/>
          <p:nvPr/>
        </p:nvSpPr>
        <p:spPr>
          <a:xfrm>
            <a:off x="1417320" y="5605272"/>
            <a:ext cx="3108960" cy="603504"/>
          </a:xfrm>
          <a:prstGeom prst="rect">
            <a:avLst/>
          </a:prstGeom>
          <a:noFill/>
          <a:ln/>
        </p:spPr>
        <p:txBody>
          <a:bodyPr wrap="square" lIns="0" tIns="0" rIns="0" bIns="0" rtlCol="0" anchor="ctr"/>
          <a:lstStyle/>
          <a:p>
            <a:pPr marL="0" indent="0">
              <a:buNone/>
            </a:pPr>
            <a:r>
              <a:rPr lang="en-US" sz="1300" b="1" dirty="0">
                <a:solidFill>
                  <a:srgbClr val="0B2E33"/>
                </a:solidFill>
                <a:latin typeface="Calibri" pitchFamily="34" charset="0"/>
                <a:ea typeface="Calibri" pitchFamily="34" charset="-122"/>
                <a:cs typeface="Calibri" pitchFamily="34" charset="-120"/>
              </a:rPr>
              <a:t>Kiểm thử hồi quy</a:t>
            </a:r>
            <a:endParaRPr lang="en-US" sz="1300" dirty="0"/>
          </a:p>
        </p:txBody>
      </p:sp>
      <p:sp>
        <p:nvSpPr>
          <p:cNvPr id="33" name="Text 31"/>
          <p:cNvSpPr/>
          <p:nvPr/>
        </p:nvSpPr>
        <p:spPr>
          <a:xfrm>
            <a:off x="4663440" y="5605272"/>
            <a:ext cx="6583680" cy="603504"/>
          </a:xfrm>
          <a:prstGeom prst="rect">
            <a:avLst/>
          </a:prstGeom>
          <a:noFill/>
          <a:ln/>
        </p:spPr>
        <p:txBody>
          <a:bodyPr wrap="square" lIns="0" tIns="0" rIns="0" bIns="0" rtlCol="0" anchor="ctr"/>
          <a:lstStyle/>
          <a:p>
            <a:pPr marL="0" indent="0">
              <a:lnSpc>
                <a:spcPts val="1400"/>
              </a:lnSpc>
              <a:buNone/>
            </a:pPr>
            <a:r>
              <a:rPr lang="en-US" sz="1150" dirty="0">
                <a:solidFill>
                  <a:srgbClr val="5B7B7E"/>
                </a:solidFill>
                <a:latin typeface="Calibri" pitchFamily="34" charset="0"/>
                <a:ea typeface="Calibri" pitchFamily="34" charset="-122"/>
                <a:cs typeface="Calibri" pitchFamily="34" charset="-120"/>
              </a:rPr>
              <a:t>Cập nhật test khi API đổi, loại bỏ test trùng lặp/lỗi thời</a:t>
            </a:r>
            <a:endParaRPr lang="en-US" sz="1150" dirty="0"/>
          </a:p>
        </p:txBody>
      </p:sp>
      <p:sp>
        <p:nvSpPr>
          <p:cNvPr id="34" name="Text 32"/>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35" name="Text 33"/>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028090"/>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4" name="Text 2"/>
          <p:cNvSpPr/>
          <p:nvPr/>
        </p:nvSpPr>
        <p:spPr>
          <a:xfrm>
            <a:off x="1234440" y="438912"/>
            <a:ext cx="7315200" cy="27432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TRỤC 2 — LOẠI HÌNH 1</a:t>
            </a:r>
            <a:endParaRPr lang="en-US" sz="1100" dirty="0"/>
          </a:p>
        </p:txBody>
      </p:sp>
      <p:sp>
        <p:nvSpPr>
          <p:cNvPr id="5" name="Text 3"/>
          <p:cNvSpPr/>
          <p:nvPr/>
        </p:nvSpPr>
        <p:spPr>
          <a:xfrm>
            <a:off x="1234440" y="694944"/>
            <a:ext cx="9875520" cy="548640"/>
          </a:xfrm>
          <a:prstGeom prst="rect">
            <a:avLst/>
          </a:prstGeom>
          <a:noFill/>
          <a:ln/>
        </p:spPr>
        <p:txBody>
          <a:bodyPr wrap="square" lIns="0" tIns="0" rIns="0" bIns="0" rtlCol="0" anchor="ctr"/>
          <a:lstStyle/>
          <a:p>
            <a:pPr marL="0" indent="0">
              <a:buNone/>
            </a:pPr>
            <a:r>
              <a:rPr lang="en-US" sz="2500" b="1" dirty="0">
                <a:solidFill>
                  <a:srgbClr val="0B2E33"/>
                </a:solidFill>
                <a:latin typeface="Cambria" pitchFamily="34" charset="0"/>
                <a:ea typeface="Cambria" pitchFamily="34" charset="-122"/>
                <a:cs typeface="Cambria" pitchFamily="34" charset="-120"/>
              </a:rPr>
              <a:t>Unit &amp; Functional Testing</a:t>
            </a:r>
            <a:endParaRPr lang="en-US" sz="2500" dirty="0"/>
          </a:p>
        </p:txBody>
      </p:sp>
      <p:sp>
        <p:nvSpPr>
          <p:cNvPr id="6" name="Shape 4"/>
          <p:cNvSpPr/>
          <p:nvPr/>
        </p:nvSpPr>
        <p:spPr>
          <a:xfrm>
            <a:off x="548640"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7" name="Shape 5"/>
          <p:cNvSpPr/>
          <p:nvPr/>
        </p:nvSpPr>
        <p:spPr>
          <a:xfrm>
            <a:off x="548640" y="1691640"/>
            <a:ext cx="3502152" cy="73152"/>
          </a:xfrm>
          <a:prstGeom prst="rect">
            <a:avLst/>
          </a:prstGeom>
          <a:solidFill>
            <a:srgbClr val="028090"/>
          </a:solidFill>
          <a:ln/>
        </p:spPr>
      </p:sp>
      <p:sp>
        <p:nvSpPr>
          <p:cNvPr id="8" name="Text 6"/>
          <p:cNvSpPr/>
          <p:nvPr/>
        </p:nvSpPr>
        <p:spPr>
          <a:xfrm>
            <a:off x="777240"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Sinh test tự động theo coverage</a:t>
            </a:r>
            <a:endParaRPr lang="en-US" sz="1300" dirty="0"/>
          </a:p>
        </p:txBody>
      </p:sp>
      <p:sp>
        <p:nvSpPr>
          <p:cNvPr id="9" name="Text 7"/>
          <p:cNvSpPr/>
          <p:nvPr/>
        </p:nvSpPr>
        <p:spPr>
          <a:xfrm>
            <a:off x="777240"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Phân tích hàm/class để sinh unit test bao phủ cả nhánh logic và ngoại lệ mà con người dễ bỏ sót.</a:t>
            </a:r>
            <a:endParaRPr lang="en-US" sz="1050" dirty="0"/>
          </a:p>
        </p:txBody>
      </p:sp>
      <p:sp>
        <p:nvSpPr>
          <p:cNvPr id="10" name="Shape 8"/>
          <p:cNvSpPr/>
          <p:nvPr/>
        </p:nvSpPr>
        <p:spPr>
          <a:xfrm>
            <a:off x="4187952"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1" name="Shape 9"/>
          <p:cNvSpPr/>
          <p:nvPr/>
        </p:nvSpPr>
        <p:spPr>
          <a:xfrm>
            <a:off x="4187952" y="1691640"/>
            <a:ext cx="3502152" cy="73152"/>
          </a:xfrm>
          <a:prstGeom prst="rect">
            <a:avLst/>
          </a:prstGeom>
          <a:solidFill>
            <a:srgbClr val="028090"/>
          </a:solidFill>
          <a:ln/>
        </p:spPr>
      </p:sp>
      <p:sp>
        <p:nvSpPr>
          <p:cNvPr id="12" name="Text 10"/>
          <p:cNvSpPr/>
          <p:nvPr/>
        </p:nvSpPr>
        <p:spPr>
          <a:xfrm>
            <a:off x="4416552"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Regression Intelligence</a:t>
            </a:r>
            <a:endParaRPr lang="en-US" sz="1300" dirty="0"/>
          </a:p>
        </p:txBody>
      </p:sp>
      <p:sp>
        <p:nvSpPr>
          <p:cNvPr id="13" name="Text 11"/>
          <p:cNvSpPr/>
          <p:nvPr/>
        </p:nvSpPr>
        <p:spPr>
          <a:xfrm>
            <a:off x="4416552"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Xác định chính xác những test cần chạy lại sau khi thay đổi mã, thay vì chạy toàn bộ suite mỗi lần.</a:t>
            </a:r>
            <a:endParaRPr lang="en-US" sz="1050" dirty="0"/>
          </a:p>
        </p:txBody>
      </p:sp>
      <p:sp>
        <p:nvSpPr>
          <p:cNvPr id="14" name="Shape 12"/>
          <p:cNvSpPr/>
          <p:nvPr/>
        </p:nvSpPr>
        <p:spPr>
          <a:xfrm>
            <a:off x="7827264"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5" name="Shape 13"/>
          <p:cNvSpPr/>
          <p:nvPr/>
        </p:nvSpPr>
        <p:spPr>
          <a:xfrm>
            <a:off x="7827264" y="1691640"/>
            <a:ext cx="3502152" cy="73152"/>
          </a:xfrm>
          <a:prstGeom prst="rect">
            <a:avLst/>
          </a:prstGeom>
          <a:solidFill>
            <a:srgbClr val="028090"/>
          </a:solidFill>
          <a:ln/>
        </p:spPr>
      </p:sp>
      <p:sp>
        <p:nvSpPr>
          <p:cNvPr id="16" name="Text 14"/>
          <p:cNvSpPr/>
          <p:nvPr/>
        </p:nvSpPr>
        <p:spPr>
          <a:xfrm>
            <a:off x="8055864"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Edge-case &amp; mutation-aware</a:t>
            </a:r>
            <a:endParaRPr lang="en-US" sz="1300" dirty="0"/>
          </a:p>
        </p:txBody>
      </p:sp>
      <p:sp>
        <p:nvSpPr>
          <p:cNvPr id="17" name="Text 15"/>
          <p:cNvSpPr/>
          <p:nvPr/>
        </p:nvSpPr>
        <p:spPr>
          <a:xfrm>
            <a:off x="8055864"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Đề xuất case biên dựa trên giới hạn dữ liệu; hỗ trợ đánh giá chất lượng test suite qua mutation testing.</a:t>
            </a:r>
            <a:endParaRPr lang="en-US" sz="1050" dirty="0"/>
          </a:p>
        </p:txBody>
      </p:sp>
      <p:sp>
        <p:nvSpPr>
          <p:cNvPr id="18" name="Shape 16"/>
          <p:cNvSpPr/>
          <p:nvPr/>
        </p:nvSpPr>
        <p:spPr>
          <a:xfrm>
            <a:off x="548640" y="4251960"/>
            <a:ext cx="10881360" cy="1051560"/>
          </a:xfrm>
          <a:prstGeom prst="roundRect">
            <a:avLst>
              <a:gd name="adj" fmla="val 8696"/>
            </a:avLst>
          </a:prstGeom>
          <a:solidFill>
            <a:srgbClr val="0B2E33"/>
          </a:solidFill>
          <a:ln/>
        </p:spPr>
      </p:sp>
      <p:sp>
        <p:nvSpPr>
          <p:cNvPr id="19" name="Text 17"/>
          <p:cNvSpPr/>
          <p:nvPr/>
        </p:nvSpPr>
        <p:spPr>
          <a:xfrm>
            <a:off x="868680" y="4370832"/>
            <a:ext cx="2743200" cy="274320"/>
          </a:xfrm>
          <a:prstGeom prst="rect">
            <a:avLst/>
          </a:prstGeom>
          <a:noFill/>
          <a:ln/>
        </p:spPr>
        <p:txBody>
          <a:bodyPr wrap="square" lIns="0" tIns="0" rIns="0" bIns="0" rtlCol="0" anchor="ctr"/>
          <a:lstStyle/>
          <a:p>
            <a:pPr marL="0" indent="0">
              <a:buNone/>
            </a:pPr>
            <a:r>
              <a:rPr lang="en-US" sz="1000" b="1" kern="0" spc="150" dirty="0">
                <a:solidFill>
                  <a:srgbClr val="02C39A"/>
                </a:solidFill>
                <a:latin typeface="Calibri" pitchFamily="34" charset="0"/>
                <a:ea typeface="Calibri" pitchFamily="34" charset="-122"/>
                <a:cs typeface="Calibri" pitchFamily="34" charset="-120"/>
              </a:rPr>
              <a:t>GIỚI HẠN CẦN LƯU Ý</a:t>
            </a:r>
            <a:endParaRPr lang="en-US" sz="1000" dirty="0"/>
          </a:p>
        </p:txBody>
      </p:sp>
      <p:sp>
        <p:nvSpPr>
          <p:cNvPr id="20" name="Text 18"/>
          <p:cNvSpPr/>
          <p:nvPr/>
        </p:nvSpPr>
        <p:spPr>
          <a:xfrm>
            <a:off x="868680" y="4617720"/>
            <a:ext cx="10241280" cy="640080"/>
          </a:xfrm>
          <a:prstGeom prst="rect">
            <a:avLst/>
          </a:prstGeom>
          <a:noFill/>
          <a:ln/>
        </p:spPr>
        <p:txBody>
          <a:bodyPr wrap="square" lIns="0" tIns="0" rIns="0" bIns="0" rtlCol="0" anchor="ctr"/>
          <a:lstStyle/>
          <a:p>
            <a:pPr marL="0" indent="0">
              <a:lnSpc>
                <a:spcPts val="1600"/>
              </a:lnSpc>
              <a:buNone/>
            </a:pPr>
            <a:r>
              <a:rPr lang="en-US" sz="1200" dirty="0">
                <a:solidFill>
                  <a:srgbClr val="E4F3F1"/>
                </a:solidFill>
                <a:latin typeface="Calibri" pitchFamily="34" charset="0"/>
                <a:ea typeface="Calibri" pitchFamily="34" charset="-122"/>
                <a:cs typeface="Calibri" pitchFamily="34" charset="-120"/>
              </a:rPr>
              <a:t>Codex sinh test dựa trên mã hiện có — nếu mã gốc đã sai logic nghiệp vụ, test sinh ra có thể "xác nhận cái sai" thay vì phát hiện nó. Vẫn cần review đối chiếu với đặc tả gốc.</a:t>
            </a:r>
            <a:endParaRPr lang="en-US" sz="1200" dirty="0"/>
          </a:p>
        </p:txBody>
      </p:sp>
      <p:sp>
        <p:nvSpPr>
          <p:cNvPr id="21" name="Text 19"/>
          <p:cNvSpPr/>
          <p:nvPr/>
        </p:nvSpPr>
        <p:spPr>
          <a:xfrm>
            <a:off x="548640" y="5486400"/>
            <a:ext cx="10881360" cy="502920"/>
          </a:xfrm>
          <a:prstGeom prst="rect">
            <a:avLst/>
          </a:prstGeom>
          <a:noFill/>
          <a:ln/>
        </p:spPr>
        <p:txBody>
          <a:bodyPr wrap="square" lIns="0" tIns="0" rIns="0" bIns="0" rtlCol="0" anchor="ctr"/>
          <a:lstStyle/>
          <a:p>
            <a:pPr marL="0" indent="0">
              <a:lnSpc>
                <a:spcPts val="1500"/>
              </a:lnSpc>
              <a:buNone/>
            </a:pPr>
            <a:r>
              <a:rPr lang="en-US" sz="1150" i="1" dirty="0">
                <a:solidFill>
                  <a:srgbClr val="5B7B7E"/>
                </a:solidFill>
                <a:latin typeface="Calibri" pitchFamily="34" charset="0"/>
                <a:ea typeface="Calibri" pitchFamily="34" charset="-122"/>
                <a:cs typeface="Calibri" pitchFamily="34" charset="-120"/>
              </a:rPr>
              <a:t>Ví dụ:  "Viết unit test cho hàm calculateGridFrequency(), bao phủ cả trường hợp tải bằng 0."</a:t>
            </a:r>
            <a:endParaRPr lang="en-US" sz="115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00A896"/>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 name="Text 2"/>
          <p:cNvSpPr/>
          <p:nvPr/>
        </p:nvSpPr>
        <p:spPr>
          <a:xfrm>
            <a:off x="1234440" y="438912"/>
            <a:ext cx="7315200" cy="274320"/>
          </a:xfrm>
          <a:prstGeom prst="rect">
            <a:avLst/>
          </a:prstGeom>
          <a:noFill/>
          <a:ln/>
        </p:spPr>
        <p:txBody>
          <a:bodyPr wrap="square" lIns="0" tIns="0" rIns="0" bIns="0" rtlCol="0" anchor="ctr"/>
          <a:lstStyle/>
          <a:p>
            <a:pPr marL="0" indent="0">
              <a:buNone/>
            </a:pPr>
            <a:r>
              <a:rPr lang="en-US" sz="1100" b="1" kern="0" spc="200" dirty="0">
                <a:solidFill>
                  <a:srgbClr val="00A896"/>
                </a:solidFill>
                <a:latin typeface="Calibri" pitchFamily="34" charset="0"/>
                <a:ea typeface="Calibri" pitchFamily="34" charset="-122"/>
                <a:cs typeface="Calibri" pitchFamily="34" charset="-120"/>
              </a:rPr>
              <a:t>TRỤC 2 — LOẠI HÌNH 2</a:t>
            </a:r>
            <a:endParaRPr lang="en-US" sz="1100" dirty="0"/>
          </a:p>
        </p:txBody>
      </p:sp>
      <p:sp>
        <p:nvSpPr>
          <p:cNvPr id="5" name="Text 3"/>
          <p:cNvSpPr/>
          <p:nvPr/>
        </p:nvSpPr>
        <p:spPr>
          <a:xfrm>
            <a:off x="1234440" y="694944"/>
            <a:ext cx="9875520" cy="548640"/>
          </a:xfrm>
          <a:prstGeom prst="rect">
            <a:avLst/>
          </a:prstGeom>
          <a:noFill/>
          <a:ln/>
        </p:spPr>
        <p:txBody>
          <a:bodyPr wrap="square" lIns="0" tIns="0" rIns="0" bIns="0" rtlCol="0" anchor="ctr"/>
          <a:lstStyle/>
          <a:p>
            <a:pPr marL="0" indent="0">
              <a:buNone/>
            </a:pPr>
            <a:r>
              <a:rPr lang="en-US" sz="2500" b="1" dirty="0">
                <a:solidFill>
                  <a:srgbClr val="0B2E33"/>
                </a:solidFill>
                <a:latin typeface="Cambria" pitchFamily="34" charset="0"/>
                <a:ea typeface="Cambria" pitchFamily="34" charset="-122"/>
                <a:cs typeface="Cambria" pitchFamily="34" charset="-120"/>
              </a:rPr>
              <a:t>UI &amp; Visual Testing</a:t>
            </a:r>
            <a:endParaRPr lang="en-US" sz="2500" dirty="0"/>
          </a:p>
        </p:txBody>
      </p:sp>
      <p:sp>
        <p:nvSpPr>
          <p:cNvPr id="6" name="Shape 4"/>
          <p:cNvSpPr/>
          <p:nvPr/>
        </p:nvSpPr>
        <p:spPr>
          <a:xfrm>
            <a:off x="548640"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7" name="Shape 5"/>
          <p:cNvSpPr/>
          <p:nvPr/>
        </p:nvSpPr>
        <p:spPr>
          <a:xfrm>
            <a:off x="548640" y="1691640"/>
            <a:ext cx="3502152" cy="73152"/>
          </a:xfrm>
          <a:prstGeom prst="rect">
            <a:avLst/>
          </a:prstGeom>
          <a:solidFill>
            <a:srgbClr val="00A896"/>
          </a:solidFill>
          <a:ln/>
        </p:spPr>
      </p:sp>
      <p:sp>
        <p:nvSpPr>
          <p:cNvPr id="8" name="Text 6"/>
          <p:cNvSpPr/>
          <p:nvPr/>
        </p:nvSpPr>
        <p:spPr>
          <a:xfrm>
            <a:off x="777240"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Self-healing script (hỗ trợ)</a:t>
            </a:r>
            <a:endParaRPr lang="en-US" sz="1300" dirty="0"/>
          </a:p>
        </p:txBody>
      </p:sp>
      <p:sp>
        <p:nvSpPr>
          <p:cNvPr id="9" name="Text 7"/>
          <p:cNvSpPr/>
          <p:nvPr/>
        </p:nvSpPr>
        <p:spPr>
          <a:xfrm>
            <a:off x="777240"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Khi locator lỗi do đổi CSS/ID, Codex phân tích DOM và đề xuất selector mới dựa trên ngữ cảnh.</a:t>
            </a:r>
            <a:endParaRPr lang="en-US" sz="1050" dirty="0"/>
          </a:p>
        </p:txBody>
      </p:sp>
      <p:sp>
        <p:nvSpPr>
          <p:cNvPr id="10" name="Shape 8"/>
          <p:cNvSpPr/>
          <p:nvPr/>
        </p:nvSpPr>
        <p:spPr>
          <a:xfrm>
            <a:off x="4187952"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1" name="Shape 9"/>
          <p:cNvSpPr/>
          <p:nvPr/>
        </p:nvSpPr>
        <p:spPr>
          <a:xfrm>
            <a:off x="4187952" y="1691640"/>
            <a:ext cx="3502152" cy="73152"/>
          </a:xfrm>
          <a:prstGeom prst="rect">
            <a:avLst/>
          </a:prstGeom>
          <a:solidFill>
            <a:srgbClr val="00A896"/>
          </a:solidFill>
          <a:ln/>
        </p:spPr>
      </p:sp>
      <p:sp>
        <p:nvSpPr>
          <p:cNvPr id="12" name="Text 10"/>
          <p:cNvSpPr/>
          <p:nvPr/>
        </p:nvSpPr>
        <p:spPr>
          <a:xfrm>
            <a:off x="4416552"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Sinh test đa trình duyệt</a:t>
            </a:r>
            <a:endParaRPr lang="en-US" sz="1300" dirty="0"/>
          </a:p>
        </p:txBody>
      </p:sp>
      <p:sp>
        <p:nvSpPr>
          <p:cNvPr id="13" name="Text 11"/>
          <p:cNvSpPr/>
          <p:nvPr/>
        </p:nvSpPr>
        <p:spPr>
          <a:xfrm>
            <a:off x="4416552"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Sinh cấu hình Playwright/Cypress chạy trên nhiều trình duyệt, hệ điều hành, thiết bị khác nhau.</a:t>
            </a:r>
            <a:endParaRPr lang="en-US" sz="1050" dirty="0"/>
          </a:p>
        </p:txBody>
      </p:sp>
      <p:sp>
        <p:nvSpPr>
          <p:cNvPr id="14" name="Shape 12"/>
          <p:cNvSpPr/>
          <p:nvPr/>
        </p:nvSpPr>
        <p:spPr>
          <a:xfrm>
            <a:off x="7827264"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5" name="Shape 13"/>
          <p:cNvSpPr/>
          <p:nvPr/>
        </p:nvSpPr>
        <p:spPr>
          <a:xfrm>
            <a:off x="7827264" y="1691640"/>
            <a:ext cx="3502152" cy="73152"/>
          </a:xfrm>
          <a:prstGeom prst="rect">
            <a:avLst/>
          </a:prstGeom>
          <a:solidFill>
            <a:srgbClr val="00A896"/>
          </a:solidFill>
          <a:ln/>
        </p:spPr>
      </p:sp>
      <p:sp>
        <p:nvSpPr>
          <p:cNvPr id="16" name="Text 14"/>
          <p:cNvSpPr/>
          <p:nvPr/>
        </p:nvSpPr>
        <p:spPr>
          <a:xfrm>
            <a:off x="8055864"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Visual regression (giới hạn)</a:t>
            </a:r>
            <a:endParaRPr lang="en-US" sz="1300" dirty="0"/>
          </a:p>
        </p:txBody>
      </p:sp>
      <p:sp>
        <p:nvSpPr>
          <p:cNvPr id="17" name="Text 15"/>
          <p:cNvSpPr/>
          <p:nvPr/>
        </p:nvSpPr>
        <p:spPr>
          <a:xfrm>
            <a:off x="8055864"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Có thể so sánh snapshot ở mức code/DOM, nhưng không có visual-AI thực thụ để "nhìn" pixel như công cụ chuyên dụng.</a:t>
            </a:r>
            <a:endParaRPr lang="en-US" sz="1050" dirty="0"/>
          </a:p>
        </p:txBody>
      </p:sp>
      <p:sp>
        <p:nvSpPr>
          <p:cNvPr id="18" name="Shape 16"/>
          <p:cNvSpPr/>
          <p:nvPr/>
        </p:nvSpPr>
        <p:spPr>
          <a:xfrm>
            <a:off x="548640" y="4251960"/>
            <a:ext cx="10881360" cy="1051560"/>
          </a:xfrm>
          <a:prstGeom prst="roundRect">
            <a:avLst>
              <a:gd name="adj" fmla="val 8696"/>
            </a:avLst>
          </a:prstGeom>
          <a:solidFill>
            <a:srgbClr val="0B2E33"/>
          </a:solidFill>
          <a:ln/>
        </p:spPr>
      </p:sp>
      <p:sp>
        <p:nvSpPr>
          <p:cNvPr id="19" name="Text 17"/>
          <p:cNvSpPr/>
          <p:nvPr/>
        </p:nvSpPr>
        <p:spPr>
          <a:xfrm>
            <a:off x="868680" y="4370832"/>
            <a:ext cx="2743200" cy="274320"/>
          </a:xfrm>
          <a:prstGeom prst="rect">
            <a:avLst/>
          </a:prstGeom>
          <a:noFill/>
          <a:ln/>
        </p:spPr>
        <p:txBody>
          <a:bodyPr wrap="square" lIns="0" tIns="0" rIns="0" bIns="0" rtlCol="0" anchor="ctr"/>
          <a:lstStyle/>
          <a:p>
            <a:pPr marL="0" indent="0">
              <a:buNone/>
            </a:pPr>
            <a:r>
              <a:rPr lang="en-US" sz="1000" b="1" kern="0" spc="150" dirty="0">
                <a:solidFill>
                  <a:srgbClr val="02C39A"/>
                </a:solidFill>
                <a:latin typeface="Calibri" pitchFamily="34" charset="0"/>
                <a:ea typeface="Calibri" pitchFamily="34" charset="-122"/>
                <a:cs typeface="Calibri" pitchFamily="34" charset="-120"/>
              </a:rPr>
              <a:t>GIỚI HẠN CẦN LƯU Ý</a:t>
            </a:r>
            <a:endParaRPr lang="en-US" sz="1000" dirty="0"/>
          </a:p>
        </p:txBody>
      </p:sp>
      <p:sp>
        <p:nvSpPr>
          <p:cNvPr id="20" name="Text 18"/>
          <p:cNvSpPr/>
          <p:nvPr/>
        </p:nvSpPr>
        <p:spPr>
          <a:xfrm>
            <a:off x="868680" y="4617720"/>
            <a:ext cx="10241280" cy="640080"/>
          </a:xfrm>
          <a:prstGeom prst="rect">
            <a:avLst/>
          </a:prstGeom>
          <a:noFill/>
          <a:ln/>
        </p:spPr>
        <p:txBody>
          <a:bodyPr wrap="square" lIns="0" tIns="0" rIns="0" bIns="0" rtlCol="0" anchor="ctr"/>
          <a:lstStyle/>
          <a:p>
            <a:pPr marL="0" indent="0">
              <a:lnSpc>
                <a:spcPts val="1600"/>
              </a:lnSpc>
              <a:buNone/>
            </a:pPr>
            <a:r>
              <a:rPr lang="en-US" sz="1200" dirty="0">
                <a:solidFill>
                  <a:srgbClr val="E4F3F1"/>
                </a:solidFill>
                <a:latin typeface="Calibri" pitchFamily="34" charset="0"/>
                <a:ea typeface="Calibri" pitchFamily="34" charset="-122"/>
                <a:cs typeface="Calibri" pitchFamily="34" charset="-120"/>
              </a:rPr>
              <a:t>Self-healing và visual regression thực thụ (bỏ qua sai lệch 1px, phát hiện lỗi bố cục bằng thị giác) là thế mạnh của công cụ chuyên dụng như Applitools — Codex nên đóng vai trò bổ trợ, không thay thế hoàn toàn.</a:t>
            </a:r>
            <a:endParaRPr lang="en-US" sz="1200" dirty="0"/>
          </a:p>
        </p:txBody>
      </p:sp>
      <p:sp>
        <p:nvSpPr>
          <p:cNvPr id="21" name="Text 19"/>
          <p:cNvSpPr/>
          <p:nvPr/>
        </p:nvSpPr>
        <p:spPr>
          <a:xfrm>
            <a:off x="548640" y="5486400"/>
            <a:ext cx="10881360" cy="502920"/>
          </a:xfrm>
          <a:prstGeom prst="rect">
            <a:avLst/>
          </a:prstGeom>
          <a:noFill/>
          <a:ln/>
        </p:spPr>
        <p:txBody>
          <a:bodyPr wrap="square" lIns="0" tIns="0" rIns="0" bIns="0" rtlCol="0" anchor="ctr"/>
          <a:lstStyle/>
          <a:p>
            <a:pPr marL="0" indent="0">
              <a:lnSpc>
                <a:spcPts val="1500"/>
              </a:lnSpc>
              <a:buNone/>
            </a:pPr>
            <a:r>
              <a:rPr lang="en-US" sz="1150" i="1" dirty="0">
                <a:solidFill>
                  <a:srgbClr val="5B7B7E"/>
                </a:solidFill>
                <a:latin typeface="Calibri" pitchFamily="34" charset="0"/>
                <a:ea typeface="Calibri" pitchFamily="34" charset="-122"/>
                <a:cs typeface="Calibri" pitchFamily="34" charset="-120"/>
              </a:rPr>
              <a:t>Ví dụ:  "Viết Playwright test cho luồng đăng nhập, chạy trên Chrome, Firefox và Safari."</a:t>
            </a:r>
            <a:endParaRPr lang="en-US" sz="115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C1440E"/>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 name="Text 2"/>
          <p:cNvSpPr/>
          <p:nvPr/>
        </p:nvSpPr>
        <p:spPr>
          <a:xfrm>
            <a:off x="1234440" y="438912"/>
            <a:ext cx="7315200" cy="274320"/>
          </a:xfrm>
          <a:prstGeom prst="rect">
            <a:avLst/>
          </a:prstGeom>
          <a:noFill/>
          <a:ln/>
        </p:spPr>
        <p:txBody>
          <a:bodyPr wrap="square" lIns="0" tIns="0" rIns="0" bIns="0" rtlCol="0" anchor="ctr"/>
          <a:lstStyle/>
          <a:p>
            <a:pPr marL="0" indent="0">
              <a:buNone/>
            </a:pPr>
            <a:r>
              <a:rPr lang="en-US" sz="1100" b="1" kern="0" spc="200" dirty="0">
                <a:solidFill>
                  <a:srgbClr val="C1440E"/>
                </a:solidFill>
                <a:latin typeface="Calibri" pitchFamily="34" charset="0"/>
                <a:ea typeface="Calibri" pitchFamily="34" charset="-122"/>
                <a:cs typeface="Calibri" pitchFamily="34" charset="-120"/>
              </a:rPr>
              <a:t>TRỤC 2 — LOẠI HÌNH 3</a:t>
            </a:r>
            <a:endParaRPr lang="en-US" sz="1100" dirty="0"/>
          </a:p>
        </p:txBody>
      </p:sp>
      <p:sp>
        <p:nvSpPr>
          <p:cNvPr id="5" name="Text 3"/>
          <p:cNvSpPr/>
          <p:nvPr/>
        </p:nvSpPr>
        <p:spPr>
          <a:xfrm>
            <a:off x="1234440" y="694944"/>
            <a:ext cx="9875520" cy="548640"/>
          </a:xfrm>
          <a:prstGeom prst="rect">
            <a:avLst/>
          </a:prstGeom>
          <a:noFill/>
          <a:ln/>
        </p:spPr>
        <p:txBody>
          <a:bodyPr wrap="square" lIns="0" tIns="0" rIns="0" bIns="0" rtlCol="0" anchor="ctr"/>
          <a:lstStyle/>
          <a:p>
            <a:pPr marL="0" indent="0">
              <a:buNone/>
            </a:pPr>
            <a:r>
              <a:rPr lang="en-US" sz="2500" b="1" dirty="0">
                <a:solidFill>
                  <a:srgbClr val="0B2E33"/>
                </a:solidFill>
                <a:latin typeface="Cambria" pitchFamily="34" charset="0"/>
                <a:ea typeface="Cambria" pitchFamily="34" charset="-122"/>
                <a:cs typeface="Cambria" pitchFamily="34" charset="-120"/>
              </a:rPr>
              <a:t>Security Testing</a:t>
            </a:r>
            <a:endParaRPr lang="en-US" sz="2500" dirty="0"/>
          </a:p>
        </p:txBody>
      </p:sp>
      <p:sp>
        <p:nvSpPr>
          <p:cNvPr id="6" name="Shape 4"/>
          <p:cNvSpPr/>
          <p:nvPr/>
        </p:nvSpPr>
        <p:spPr>
          <a:xfrm>
            <a:off x="548640"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7" name="Shape 5"/>
          <p:cNvSpPr/>
          <p:nvPr/>
        </p:nvSpPr>
        <p:spPr>
          <a:xfrm>
            <a:off x="548640" y="1691640"/>
            <a:ext cx="3502152" cy="73152"/>
          </a:xfrm>
          <a:prstGeom prst="rect">
            <a:avLst/>
          </a:prstGeom>
          <a:solidFill>
            <a:srgbClr val="C1440E"/>
          </a:solidFill>
          <a:ln/>
        </p:spPr>
      </p:sp>
      <p:sp>
        <p:nvSpPr>
          <p:cNvPr id="8" name="Text 6"/>
          <p:cNvSpPr/>
          <p:nvPr/>
        </p:nvSpPr>
        <p:spPr>
          <a:xfrm>
            <a:off x="777240"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Rà soát lỗ hổng phổ biến</a:t>
            </a:r>
            <a:endParaRPr lang="en-US" sz="1300" dirty="0"/>
          </a:p>
        </p:txBody>
      </p:sp>
      <p:sp>
        <p:nvSpPr>
          <p:cNvPr id="9" name="Text 7"/>
          <p:cNvSpPr/>
          <p:nvPr/>
        </p:nvSpPr>
        <p:spPr>
          <a:xfrm>
            <a:off x="777240"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Phát hiện SQL injection, XSS, hardcoded secrets, input validation thiếu chặt chẽ trong code.</a:t>
            </a:r>
            <a:endParaRPr lang="en-US" sz="1050" dirty="0"/>
          </a:p>
        </p:txBody>
      </p:sp>
      <p:sp>
        <p:nvSpPr>
          <p:cNvPr id="10" name="Shape 8"/>
          <p:cNvSpPr/>
          <p:nvPr/>
        </p:nvSpPr>
        <p:spPr>
          <a:xfrm>
            <a:off x="4187952"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1" name="Shape 9"/>
          <p:cNvSpPr/>
          <p:nvPr/>
        </p:nvSpPr>
        <p:spPr>
          <a:xfrm>
            <a:off x="4187952" y="1691640"/>
            <a:ext cx="3502152" cy="73152"/>
          </a:xfrm>
          <a:prstGeom prst="rect">
            <a:avLst/>
          </a:prstGeom>
          <a:solidFill>
            <a:srgbClr val="C1440E"/>
          </a:solidFill>
          <a:ln/>
        </p:spPr>
      </p:sp>
      <p:sp>
        <p:nvSpPr>
          <p:cNvPr id="12" name="Text 10"/>
          <p:cNvSpPr/>
          <p:nvPr/>
        </p:nvSpPr>
        <p:spPr>
          <a:xfrm>
            <a:off x="4416552"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Sinh input kiểm thử bất thường</a:t>
            </a:r>
            <a:endParaRPr lang="en-US" sz="1300" dirty="0"/>
          </a:p>
        </p:txBody>
      </p:sp>
      <p:sp>
        <p:nvSpPr>
          <p:cNvPr id="13" name="Text 11"/>
          <p:cNvSpPr/>
          <p:nvPr/>
        </p:nvSpPr>
        <p:spPr>
          <a:xfrm>
            <a:off x="4416552"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Tạo các input biên, input độc hại để kiểm tra khả năng chống chịu của hệ thống (fuzzing cơ bản).</a:t>
            </a:r>
            <a:endParaRPr lang="en-US" sz="1050" dirty="0"/>
          </a:p>
        </p:txBody>
      </p:sp>
      <p:sp>
        <p:nvSpPr>
          <p:cNvPr id="14" name="Shape 12"/>
          <p:cNvSpPr/>
          <p:nvPr/>
        </p:nvSpPr>
        <p:spPr>
          <a:xfrm>
            <a:off x="7827264"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5" name="Shape 13"/>
          <p:cNvSpPr/>
          <p:nvPr/>
        </p:nvSpPr>
        <p:spPr>
          <a:xfrm>
            <a:off x="7827264" y="1691640"/>
            <a:ext cx="3502152" cy="73152"/>
          </a:xfrm>
          <a:prstGeom prst="rect">
            <a:avLst/>
          </a:prstGeom>
          <a:solidFill>
            <a:srgbClr val="C1440E"/>
          </a:solidFill>
          <a:ln/>
        </p:spPr>
      </p:sp>
      <p:sp>
        <p:nvSpPr>
          <p:cNvPr id="16" name="Text 14"/>
          <p:cNvSpPr/>
          <p:nvPr/>
        </p:nvSpPr>
        <p:spPr>
          <a:xfrm>
            <a:off x="8055864"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Sinh dữ liệu giả lập an toàn</a:t>
            </a:r>
            <a:endParaRPr lang="en-US" sz="1300" dirty="0"/>
          </a:p>
        </p:txBody>
      </p:sp>
      <p:sp>
        <p:nvSpPr>
          <p:cNvPr id="17" name="Text 15"/>
          <p:cNvSpPr/>
          <p:nvPr/>
        </p:nvSpPr>
        <p:spPr>
          <a:xfrm>
            <a:off x="8055864"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Tạo synthetic data mô phỏng dữ liệu thật để kiểm thử tải/logic mà không lộ dữ liệu nhạy cảm.</a:t>
            </a:r>
            <a:endParaRPr lang="en-US" sz="1050" dirty="0"/>
          </a:p>
        </p:txBody>
      </p:sp>
      <p:sp>
        <p:nvSpPr>
          <p:cNvPr id="18" name="Shape 16"/>
          <p:cNvSpPr/>
          <p:nvPr/>
        </p:nvSpPr>
        <p:spPr>
          <a:xfrm>
            <a:off x="548640" y="4251960"/>
            <a:ext cx="10881360" cy="1051560"/>
          </a:xfrm>
          <a:prstGeom prst="roundRect">
            <a:avLst>
              <a:gd name="adj" fmla="val 8696"/>
            </a:avLst>
          </a:prstGeom>
          <a:solidFill>
            <a:srgbClr val="0B2E33"/>
          </a:solidFill>
          <a:ln/>
        </p:spPr>
      </p:sp>
      <p:sp>
        <p:nvSpPr>
          <p:cNvPr id="19" name="Text 17"/>
          <p:cNvSpPr/>
          <p:nvPr/>
        </p:nvSpPr>
        <p:spPr>
          <a:xfrm>
            <a:off x="868680" y="4370832"/>
            <a:ext cx="2743200" cy="274320"/>
          </a:xfrm>
          <a:prstGeom prst="rect">
            <a:avLst/>
          </a:prstGeom>
          <a:noFill/>
          <a:ln/>
        </p:spPr>
        <p:txBody>
          <a:bodyPr wrap="square" lIns="0" tIns="0" rIns="0" bIns="0" rtlCol="0" anchor="ctr"/>
          <a:lstStyle/>
          <a:p>
            <a:pPr marL="0" indent="0">
              <a:buNone/>
            </a:pPr>
            <a:r>
              <a:rPr lang="en-US" sz="1000" b="1" kern="0" spc="150" dirty="0">
                <a:solidFill>
                  <a:srgbClr val="02C39A"/>
                </a:solidFill>
                <a:latin typeface="Calibri" pitchFamily="34" charset="0"/>
                <a:ea typeface="Calibri" pitchFamily="34" charset="-122"/>
                <a:cs typeface="Calibri" pitchFamily="34" charset="-120"/>
              </a:rPr>
              <a:t>GIỚI HẠN CẦN LƯU Ý</a:t>
            </a:r>
            <a:endParaRPr lang="en-US" sz="1000" dirty="0"/>
          </a:p>
        </p:txBody>
      </p:sp>
      <p:sp>
        <p:nvSpPr>
          <p:cNvPr id="20" name="Text 18"/>
          <p:cNvSpPr/>
          <p:nvPr/>
        </p:nvSpPr>
        <p:spPr>
          <a:xfrm>
            <a:off x="868680" y="4617720"/>
            <a:ext cx="10241280" cy="640080"/>
          </a:xfrm>
          <a:prstGeom prst="rect">
            <a:avLst/>
          </a:prstGeom>
          <a:noFill/>
          <a:ln/>
        </p:spPr>
        <p:txBody>
          <a:bodyPr wrap="square" lIns="0" tIns="0" rIns="0" bIns="0" rtlCol="0" anchor="ctr"/>
          <a:lstStyle/>
          <a:p>
            <a:pPr marL="0" indent="0">
              <a:lnSpc>
                <a:spcPts val="1600"/>
              </a:lnSpc>
              <a:buNone/>
            </a:pPr>
            <a:r>
              <a:rPr lang="en-US" sz="1200" dirty="0">
                <a:solidFill>
                  <a:srgbClr val="E4F3F1"/>
                </a:solidFill>
                <a:latin typeface="Calibri" pitchFamily="34" charset="0"/>
                <a:ea typeface="Calibri" pitchFamily="34" charset="-122"/>
                <a:cs typeface="Calibri" pitchFamily="34" charset="-120"/>
              </a:rPr>
              <a:t>Fuzzing chuyên sâu ở cấp độ giao thức (như Mayhem cho Modbus) và red-team mô phỏng tấn công thực thụ đòi hỏi công cụ bảo mật chuyên dụng — Codex phù hợp cho rà soát code-level hơn là kiểm thử thâm nhập toàn diện.</a:t>
            </a:r>
            <a:endParaRPr lang="en-US" sz="1200" dirty="0"/>
          </a:p>
        </p:txBody>
      </p:sp>
      <p:sp>
        <p:nvSpPr>
          <p:cNvPr id="21" name="Text 19"/>
          <p:cNvSpPr/>
          <p:nvPr/>
        </p:nvSpPr>
        <p:spPr>
          <a:xfrm>
            <a:off x="548640" y="5486400"/>
            <a:ext cx="10881360" cy="502920"/>
          </a:xfrm>
          <a:prstGeom prst="rect">
            <a:avLst/>
          </a:prstGeom>
          <a:noFill/>
          <a:ln/>
        </p:spPr>
        <p:txBody>
          <a:bodyPr wrap="square" lIns="0" tIns="0" rIns="0" bIns="0" rtlCol="0" anchor="ctr"/>
          <a:lstStyle/>
          <a:p>
            <a:pPr marL="0" indent="0">
              <a:lnSpc>
                <a:spcPts val="1500"/>
              </a:lnSpc>
              <a:buNone/>
            </a:pPr>
            <a:r>
              <a:rPr lang="en-US" sz="1150" i="1" dirty="0">
                <a:solidFill>
                  <a:srgbClr val="5B7B7E"/>
                </a:solidFill>
                <a:latin typeface="Calibri" pitchFamily="34" charset="0"/>
                <a:ea typeface="Calibri" pitchFamily="34" charset="-122"/>
                <a:cs typeface="Calibri" pitchFamily="34" charset="-120"/>
              </a:rPr>
              <a:t>Ví dụ:  "Rà soát hàm xử lý đăng nhập này để tìm lỗ hổng SQL injection hoặc lộ thông tin nhạy cảm."</a:t>
            </a:r>
            <a:endParaRPr lang="en-US" sz="115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02C39A"/>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4" name="Text 2"/>
          <p:cNvSpPr/>
          <p:nvPr/>
        </p:nvSpPr>
        <p:spPr>
          <a:xfrm>
            <a:off x="1234440" y="438912"/>
            <a:ext cx="7315200" cy="274320"/>
          </a:xfrm>
          <a:prstGeom prst="rect">
            <a:avLst/>
          </a:prstGeom>
          <a:noFill/>
          <a:ln/>
        </p:spPr>
        <p:txBody>
          <a:bodyPr wrap="square" lIns="0" tIns="0" rIns="0" bIns="0" rtlCol="0" anchor="ctr"/>
          <a:lstStyle/>
          <a:p>
            <a:pPr marL="0" indent="0">
              <a:buNone/>
            </a:pPr>
            <a:r>
              <a:rPr lang="en-US" sz="1100" b="1" kern="0" spc="200" dirty="0">
                <a:solidFill>
                  <a:srgbClr val="02C39A"/>
                </a:solidFill>
                <a:latin typeface="Calibri" pitchFamily="34" charset="0"/>
                <a:ea typeface="Calibri" pitchFamily="34" charset="-122"/>
                <a:cs typeface="Calibri" pitchFamily="34" charset="-120"/>
              </a:rPr>
              <a:t>TRỤC 2 — LOẠI HÌNH 4</a:t>
            </a:r>
            <a:endParaRPr lang="en-US" sz="1100" dirty="0"/>
          </a:p>
        </p:txBody>
      </p:sp>
      <p:sp>
        <p:nvSpPr>
          <p:cNvPr id="5" name="Text 3"/>
          <p:cNvSpPr/>
          <p:nvPr/>
        </p:nvSpPr>
        <p:spPr>
          <a:xfrm>
            <a:off x="1234440" y="694944"/>
            <a:ext cx="9875520" cy="548640"/>
          </a:xfrm>
          <a:prstGeom prst="rect">
            <a:avLst/>
          </a:prstGeom>
          <a:noFill/>
          <a:ln/>
        </p:spPr>
        <p:txBody>
          <a:bodyPr wrap="square" lIns="0" tIns="0" rIns="0" bIns="0" rtlCol="0" anchor="ctr"/>
          <a:lstStyle/>
          <a:p>
            <a:pPr marL="0" indent="0">
              <a:buNone/>
            </a:pPr>
            <a:r>
              <a:rPr lang="en-US" sz="2500" b="1" dirty="0">
                <a:solidFill>
                  <a:srgbClr val="0B2E33"/>
                </a:solidFill>
                <a:latin typeface="Cambria" pitchFamily="34" charset="0"/>
                <a:ea typeface="Cambria" pitchFamily="34" charset="-122"/>
                <a:cs typeface="Cambria" pitchFamily="34" charset="-120"/>
              </a:rPr>
              <a:t>Performance Testing</a:t>
            </a:r>
            <a:endParaRPr lang="en-US" sz="2500" dirty="0"/>
          </a:p>
        </p:txBody>
      </p:sp>
      <p:sp>
        <p:nvSpPr>
          <p:cNvPr id="6" name="Shape 4"/>
          <p:cNvSpPr/>
          <p:nvPr/>
        </p:nvSpPr>
        <p:spPr>
          <a:xfrm>
            <a:off x="548640"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7" name="Shape 5"/>
          <p:cNvSpPr/>
          <p:nvPr/>
        </p:nvSpPr>
        <p:spPr>
          <a:xfrm>
            <a:off x="548640" y="1691640"/>
            <a:ext cx="3502152" cy="73152"/>
          </a:xfrm>
          <a:prstGeom prst="rect">
            <a:avLst/>
          </a:prstGeom>
          <a:solidFill>
            <a:srgbClr val="02C39A"/>
          </a:solidFill>
          <a:ln/>
        </p:spPr>
      </p:sp>
      <p:sp>
        <p:nvSpPr>
          <p:cNvPr id="8" name="Text 6"/>
          <p:cNvSpPr/>
          <p:nvPr/>
        </p:nvSpPr>
        <p:spPr>
          <a:xfrm>
            <a:off x="777240"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Sinh script kiểm thử tải</a:t>
            </a:r>
            <a:endParaRPr lang="en-US" sz="1300" dirty="0"/>
          </a:p>
        </p:txBody>
      </p:sp>
      <p:sp>
        <p:nvSpPr>
          <p:cNvPr id="9" name="Text 7"/>
          <p:cNvSpPr/>
          <p:nvPr/>
        </p:nvSpPr>
        <p:spPr>
          <a:xfrm>
            <a:off x="777240"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Viết load test bằng k6, Locust, JMeter mô phỏng nhiều người dùng đồng thời theo kịch bản mô tả.</a:t>
            </a:r>
            <a:endParaRPr lang="en-US" sz="1050" dirty="0"/>
          </a:p>
        </p:txBody>
      </p:sp>
      <p:sp>
        <p:nvSpPr>
          <p:cNvPr id="10" name="Shape 8"/>
          <p:cNvSpPr/>
          <p:nvPr/>
        </p:nvSpPr>
        <p:spPr>
          <a:xfrm>
            <a:off x="4187952"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1" name="Shape 9"/>
          <p:cNvSpPr/>
          <p:nvPr/>
        </p:nvSpPr>
        <p:spPr>
          <a:xfrm>
            <a:off x="4187952" y="1691640"/>
            <a:ext cx="3502152" cy="73152"/>
          </a:xfrm>
          <a:prstGeom prst="rect">
            <a:avLst/>
          </a:prstGeom>
          <a:solidFill>
            <a:srgbClr val="02C39A"/>
          </a:solidFill>
          <a:ln/>
        </p:spPr>
      </p:sp>
      <p:sp>
        <p:nvSpPr>
          <p:cNvPr id="12" name="Text 10"/>
          <p:cNvSpPr/>
          <p:nvPr/>
        </p:nvSpPr>
        <p:spPr>
          <a:xfrm>
            <a:off x="4416552"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Phân tích kết quả benchmark</a:t>
            </a:r>
            <a:endParaRPr lang="en-US" sz="1300" dirty="0"/>
          </a:p>
        </p:txBody>
      </p:sp>
      <p:sp>
        <p:nvSpPr>
          <p:cNvPr id="13" name="Text 11"/>
          <p:cNvSpPr/>
          <p:nvPr/>
        </p:nvSpPr>
        <p:spPr>
          <a:xfrm>
            <a:off x="4416552"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Đọc kết quả đo (latency, throughput, error rate) và tóm tắt điểm nghẽn (bottleneck) tiềm ẩn.</a:t>
            </a:r>
            <a:endParaRPr lang="en-US" sz="1050" dirty="0"/>
          </a:p>
        </p:txBody>
      </p:sp>
      <p:sp>
        <p:nvSpPr>
          <p:cNvPr id="14" name="Shape 12"/>
          <p:cNvSpPr/>
          <p:nvPr/>
        </p:nvSpPr>
        <p:spPr>
          <a:xfrm>
            <a:off x="7827264" y="1691640"/>
            <a:ext cx="3502152" cy="2331720"/>
          </a:xfrm>
          <a:prstGeom prst="roundRect">
            <a:avLst>
              <a:gd name="adj" fmla="val 3922"/>
            </a:avLst>
          </a:prstGeom>
          <a:solidFill>
            <a:srgbClr val="F3F8F8"/>
          </a:solidFill>
          <a:ln/>
          <a:effectLst>
            <a:outerShdw blurRad="76200" dist="25400" dir="5400000" algn="bl" rotWithShape="0">
              <a:srgbClr val="013335">
                <a:alpha val="25000"/>
              </a:srgbClr>
            </a:outerShdw>
          </a:effectLst>
        </p:spPr>
      </p:sp>
      <p:sp>
        <p:nvSpPr>
          <p:cNvPr id="15" name="Shape 13"/>
          <p:cNvSpPr/>
          <p:nvPr/>
        </p:nvSpPr>
        <p:spPr>
          <a:xfrm>
            <a:off x="7827264" y="1691640"/>
            <a:ext cx="3502152" cy="73152"/>
          </a:xfrm>
          <a:prstGeom prst="rect">
            <a:avLst/>
          </a:prstGeom>
          <a:solidFill>
            <a:srgbClr val="02C39A"/>
          </a:solidFill>
          <a:ln/>
        </p:spPr>
      </p:sp>
      <p:sp>
        <p:nvSpPr>
          <p:cNvPr id="16" name="Text 14"/>
          <p:cNvSpPr/>
          <p:nvPr/>
        </p:nvSpPr>
        <p:spPr>
          <a:xfrm>
            <a:off x="8055864" y="1947672"/>
            <a:ext cx="3044952" cy="502920"/>
          </a:xfrm>
          <a:prstGeom prst="rect">
            <a:avLst/>
          </a:prstGeom>
          <a:noFill/>
          <a:ln/>
        </p:spPr>
        <p:txBody>
          <a:bodyPr wrap="square" lIns="0" tIns="0" rIns="0" bIns="0" rtlCol="0" anchor="ctr"/>
          <a:lstStyle/>
          <a:p>
            <a:pPr marL="0" indent="0">
              <a:lnSpc>
                <a:spcPts val="1500"/>
              </a:lnSpc>
              <a:buNone/>
            </a:pPr>
            <a:r>
              <a:rPr lang="en-US" sz="1300" b="1" dirty="0">
                <a:solidFill>
                  <a:srgbClr val="0B2E33"/>
                </a:solidFill>
                <a:latin typeface="Calibri" pitchFamily="34" charset="0"/>
                <a:ea typeface="Calibri" pitchFamily="34" charset="-122"/>
                <a:cs typeface="Calibri" pitchFamily="34" charset="-120"/>
              </a:rPr>
              <a:t>Đề xuất tối ưu</a:t>
            </a:r>
            <a:endParaRPr lang="en-US" sz="1300" dirty="0"/>
          </a:p>
        </p:txBody>
      </p:sp>
      <p:sp>
        <p:nvSpPr>
          <p:cNvPr id="17" name="Text 15"/>
          <p:cNvSpPr/>
          <p:nvPr/>
        </p:nvSpPr>
        <p:spPr>
          <a:xfrm>
            <a:off x="8055864" y="2468880"/>
            <a:ext cx="3044952" cy="1417320"/>
          </a:xfrm>
          <a:prstGeom prst="rect">
            <a:avLst/>
          </a:prstGeom>
          <a:noFill/>
          <a:ln/>
        </p:spPr>
        <p:txBody>
          <a:bodyPr wrap="square" lIns="0" tIns="0" rIns="0" bIns="0" rtlCol="0" anchor="ctr"/>
          <a:lstStyle/>
          <a:p>
            <a:pPr marL="0" indent="0">
              <a:lnSpc>
                <a:spcPts val="1400"/>
              </a:lnSpc>
              <a:buNone/>
            </a:pPr>
            <a:r>
              <a:rPr lang="en-US" sz="1050" dirty="0">
                <a:solidFill>
                  <a:srgbClr val="5B7B7E"/>
                </a:solidFill>
                <a:latin typeface="Calibri" pitchFamily="34" charset="0"/>
                <a:ea typeface="Calibri" pitchFamily="34" charset="-122"/>
                <a:cs typeface="Calibri" pitchFamily="34" charset="-120"/>
              </a:rPr>
              <a:t>Gợi ý vị trí code có khả năng gây chậm (N+1 query, vòng lặp lồng nhau...) dựa trên profiling.</a:t>
            </a:r>
            <a:endParaRPr lang="en-US" sz="1050" dirty="0"/>
          </a:p>
        </p:txBody>
      </p:sp>
      <p:sp>
        <p:nvSpPr>
          <p:cNvPr id="18" name="Shape 16"/>
          <p:cNvSpPr/>
          <p:nvPr/>
        </p:nvSpPr>
        <p:spPr>
          <a:xfrm>
            <a:off x="548640" y="4251960"/>
            <a:ext cx="10881360" cy="1051560"/>
          </a:xfrm>
          <a:prstGeom prst="roundRect">
            <a:avLst>
              <a:gd name="adj" fmla="val 8696"/>
            </a:avLst>
          </a:prstGeom>
          <a:solidFill>
            <a:srgbClr val="0B2E33"/>
          </a:solidFill>
          <a:ln/>
        </p:spPr>
      </p:sp>
      <p:sp>
        <p:nvSpPr>
          <p:cNvPr id="19" name="Text 17"/>
          <p:cNvSpPr/>
          <p:nvPr/>
        </p:nvSpPr>
        <p:spPr>
          <a:xfrm>
            <a:off x="868680" y="4370832"/>
            <a:ext cx="2743200" cy="274320"/>
          </a:xfrm>
          <a:prstGeom prst="rect">
            <a:avLst/>
          </a:prstGeom>
          <a:noFill/>
          <a:ln/>
        </p:spPr>
        <p:txBody>
          <a:bodyPr wrap="square" lIns="0" tIns="0" rIns="0" bIns="0" rtlCol="0" anchor="ctr"/>
          <a:lstStyle/>
          <a:p>
            <a:pPr marL="0" indent="0">
              <a:buNone/>
            </a:pPr>
            <a:r>
              <a:rPr lang="en-US" sz="1000" b="1" kern="0" spc="150" dirty="0">
                <a:solidFill>
                  <a:srgbClr val="02C39A"/>
                </a:solidFill>
                <a:latin typeface="Calibri" pitchFamily="34" charset="0"/>
                <a:ea typeface="Calibri" pitchFamily="34" charset="-122"/>
                <a:cs typeface="Calibri" pitchFamily="34" charset="-120"/>
              </a:rPr>
              <a:t>GIỚI HẠN CẦN LƯU Ý</a:t>
            </a:r>
            <a:endParaRPr lang="en-US" sz="1000" dirty="0"/>
          </a:p>
        </p:txBody>
      </p:sp>
      <p:sp>
        <p:nvSpPr>
          <p:cNvPr id="20" name="Text 18"/>
          <p:cNvSpPr/>
          <p:nvPr/>
        </p:nvSpPr>
        <p:spPr>
          <a:xfrm>
            <a:off x="868680" y="4617720"/>
            <a:ext cx="10241280" cy="640080"/>
          </a:xfrm>
          <a:prstGeom prst="rect">
            <a:avLst/>
          </a:prstGeom>
          <a:noFill/>
          <a:ln/>
        </p:spPr>
        <p:txBody>
          <a:bodyPr wrap="square" lIns="0" tIns="0" rIns="0" bIns="0" rtlCol="0" anchor="ctr"/>
          <a:lstStyle/>
          <a:p>
            <a:pPr marL="0" indent="0">
              <a:lnSpc>
                <a:spcPts val="1600"/>
              </a:lnSpc>
              <a:buNone/>
            </a:pPr>
            <a:r>
              <a:rPr lang="en-US" sz="1200" dirty="0">
                <a:solidFill>
                  <a:srgbClr val="E4F3F1"/>
                </a:solidFill>
                <a:latin typeface="Calibri" pitchFamily="34" charset="0"/>
                <a:ea typeface="Calibri" pitchFamily="34" charset="-122"/>
                <a:cs typeface="Calibri" pitchFamily="34" charset="-120"/>
              </a:rPr>
              <a:t>Codex không tự chạy hạ tầng tải lớn hay mô phỏng traffic thực ở quy mô production — vẫn cần nền tảng performance-testing chuyên dụng để thực thi, Codex hỗ trợ ở khâu viết script và phân tích kết quả.</a:t>
            </a:r>
            <a:endParaRPr lang="en-US" sz="1200" dirty="0"/>
          </a:p>
        </p:txBody>
      </p:sp>
      <p:sp>
        <p:nvSpPr>
          <p:cNvPr id="21" name="Text 19"/>
          <p:cNvSpPr/>
          <p:nvPr/>
        </p:nvSpPr>
        <p:spPr>
          <a:xfrm>
            <a:off x="548640" y="5486400"/>
            <a:ext cx="10881360" cy="502920"/>
          </a:xfrm>
          <a:prstGeom prst="rect">
            <a:avLst/>
          </a:prstGeom>
          <a:noFill/>
          <a:ln/>
        </p:spPr>
        <p:txBody>
          <a:bodyPr wrap="square" lIns="0" tIns="0" rIns="0" bIns="0" rtlCol="0" anchor="ctr"/>
          <a:lstStyle/>
          <a:p>
            <a:pPr marL="0" indent="0">
              <a:lnSpc>
                <a:spcPts val="1500"/>
              </a:lnSpc>
              <a:buNone/>
            </a:pPr>
            <a:r>
              <a:rPr lang="en-US" sz="1150" i="1" dirty="0">
                <a:solidFill>
                  <a:srgbClr val="5B7B7E"/>
                </a:solidFill>
                <a:latin typeface="Calibri" pitchFamily="34" charset="0"/>
                <a:ea typeface="Calibri" pitchFamily="34" charset="-122"/>
                <a:cs typeface="Calibri" pitchFamily="34" charset="-120"/>
              </a:rPr>
              <a:t>Ví dụ:  "Viết k6 script mô phỏng 500 người dùng đồng thời gọi API thanh toán trong 5 phút."</a:t>
            </a:r>
            <a:endParaRPr lang="en-US" sz="115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3" name="Text 21"/>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TỔNG HỢP</a:t>
            </a:r>
            <a:endParaRPr lang="en-US" sz="1200" dirty="0"/>
          </a:p>
        </p:txBody>
      </p:sp>
      <p:sp>
        <p:nvSpPr>
          <p:cNvPr id="3" name="Text 1"/>
          <p:cNvSpPr/>
          <p:nvPr/>
        </p:nvSpPr>
        <p:spPr>
          <a:xfrm>
            <a:off x="548640" y="685800"/>
            <a:ext cx="10789920" cy="640080"/>
          </a:xfrm>
          <a:prstGeom prst="rect">
            <a:avLst/>
          </a:prstGeom>
          <a:noFill/>
          <a:ln/>
        </p:spPr>
        <p:txBody>
          <a:bodyPr wrap="square" lIns="0" tIns="0" rIns="0" bIns="0" rtlCol="0" anchor="ctr"/>
          <a:lstStyle/>
          <a:p>
            <a:pPr marL="0" indent="0">
              <a:buNone/>
            </a:pPr>
            <a:r>
              <a:rPr lang="en-US" sz="2700" b="1" dirty="0">
                <a:solidFill>
                  <a:srgbClr val="0B2E33"/>
                </a:solidFill>
                <a:latin typeface="Cambria" pitchFamily="34" charset="0"/>
                <a:ea typeface="Cambria" pitchFamily="34" charset="-122"/>
                <a:cs typeface="Cambria" pitchFamily="34" charset="-120"/>
              </a:rPr>
              <a:t>Ma trận: Quy trình × Loại hình kiểm thử</a:t>
            </a:r>
            <a:endParaRPr lang="en-US" sz="2700" dirty="0"/>
          </a:p>
        </p:txBody>
      </p:sp>
      <p:sp>
        <p:nvSpPr>
          <p:cNvPr id="4" name="Shape 2"/>
          <p:cNvSpPr/>
          <p:nvPr/>
        </p:nvSpPr>
        <p:spPr>
          <a:xfrm>
            <a:off x="548640" y="1691640"/>
            <a:ext cx="1600200" cy="566928"/>
          </a:xfrm>
          <a:prstGeom prst="roundRect">
            <a:avLst>
              <a:gd name="adj" fmla="val 8065"/>
            </a:avLst>
          </a:prstGeom>
          <a:solidFill>
            <a:srgbClr val="0B2E33"/>
          </a:solidFill>
          <a:ln/>
        </p:spPr>
      </p:sp>
      <p:sp>
        <p:nvSpPr>
          <p:cNvPr id="5" name="Shape 3"/>
          <p:cNvSpPr/>
          <p:nvPr/>
        </p:nvSpPr>
        <p:spPr>
          <a:xfrm>
            <a:off x="2148840" y="1691640"/>
            <a:ext cx="1691640" cy="566928"/>
          </a:xfrm>
          <a:prstGeom prst="rect">
            <a:avLst/>
          </a:prstGeom>
          <a:solidFill>
            <a:srgbClr val="0B2E33"/>
          </a:solidFill>
          <a:ln w="6350">
            <a:solidFill>
              <a:srgbClr val="FFFFFF"/>
            </a:solidFill>
            <a:prstDash val="solid"/>
          </a:ln>
        </p:spPr>
      </p:sp>
      <p:sp>
        <p:nvSpPr>
          <p:cNvPr id="6" name="Text 4"/>
          <p:cNvSpPr/>
          <p:nvPr/>
        </p:nvSpPr>
        <p:spPr>
          <a:xfrm>
            <a:off x="2148840" y="1691640"/>
            <a:ext cx="16916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Unit/Func</a:t>
            </a:r>
            <a:endParaRPr lang="en-US" sz="1100" dirty="0"/>
          </a:p>
        </p:txBody>
      </p:sp>
      <p:sp>
        <p:nvSpPr>
          <p:cNvPr id="7" name="Shape 5"/>
          <p:cNvSpPr/>
          <p:nvPr/>
        </p:nvSpPr>
        <p:spPr>
          <a:xfrm>
            <a:off x="3840480" y="1691640"/>
            <a:ext cx="1691640" cy="566928"/>
          </a:xfrm>
          <a:prstGeom prst="rect">
            <a:avLst/>
          </a:prstGeom>
          <a:solidFill>
            <a:srgbClr val="0B2E33"/>
          </a:solidFill>
          <a:ln w="6350">
            <a:solidFill>
              <a:srgbClr val="FFFFFF"/>
            </a:solidFill>
            <a:prstDash val="solid"/>
          </a:ln>
        </p:spPr>
      </p:sp>
      <p:sp>
        <p:nvSpPr>
          <p:cNvPr id="8" name="Text 6"/>
          <p:cNvSpPr/>
          <p:nvPr/>
        </p:nvSpPr>
        <p:spPr>
          <a:xfrm>
            <a:off x="3840480" y="1691640"/>
            <a:ext cx="16916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UI/Visual</a:t>
            </a:r>
            <a:endParaRPr lang="en-US" sz="1100" dirty="0"/>
          </a:p>
        </p:txBody>
      </p:sp>
      <p:sp>
        <p:nvSpPr>
          <p:cNvPr id="9" name="Shape 7"/>
          <p:cNvSpPr/>
          <p:nvPr/>
        </p:nvSpPr>
        <p:spPr>
          <a:xfrm>
            <a:off x="5532120" y="1691640"/>
            <a:ext cx="1691640" cy="566928"/>
          </a:xfrm>
          <a:prstGeom prst="rect">
            <a:avLst/>
          </a:prstGeom>
          <a:solidFill>
            <a:srgbClr val="0B2E33"/>
          </a:solidFill>
          <a:ln w="6350">
            <a:solidFill>
              <a:srgbClr val="FFFFFF"/>
            </a:solidFill>
            <a:prstDash val="solid"/>
          </a:ln>
        </p:spPr>
      </p:sp>
      <p:sp>
        <p:nvSpPr>
          <p:cNvPr id="10" name="Text 8"/>
          <p:cNvSpPr/>
          <p:nvPr/>
        </p:nvSpPr>
        <p:spPr>
          <a:xfrm>
            <a:off x="5532120" y="1691640"/>
            <a:ext cx="16916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Security</a:t>
            </a:r>
            <a:endParaRPr lang="en-US" sz="1100" dirty="0"/>
          </a:p>
        </p:txBody>
      </p:sp>
      <p:sp>
        <p:nvSpPr>
          <p:cNvPr id="11" name="Shape 9"/>
          <p:cNvSpPr/>
          <p:nvPr/>
        </p:nvSpPr>
        <p:spPr>
          <a:xfrm>
            <a:off x="7223760" y="1691640"/>
            <a:ext cx="1691640" cy="566928"/>
          </a:xfrm>
          <a:prstGeom prst="rect">
            <a:avLst/>
          </a:prstGeom>
          <a:solidFill>
            <a:srgbClr val="0B2E33"/>
          </a:solidFill>
          <a:ln w="6350">
            <a:solidFill>
              <a:srgbClr val="FFFFFF"/>
            </a:solidFill>
            <a:prstDash val="solid"/>
          </a:ln>
        </p:spPr>
      </p:sp>
      <p:sp>
        <p:nvSpPr>
          <p:cNvPr id="12" name="Text 10"/>
          <p:cNvSpPr/>
          <p:nvPr/>
        </p:nvSpPr>
        <p:spPr>
          <a:xfrm>
            <a:off x="7223760" y="1691640"/>
            <a:ext cx="1691640"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Performance</a:t>
            </a:r>
            <a:endParaRPr lang="en-US" sz="1100" dirty="0"/>
          </a:p>
        </p:txBody>
      </p:sp>
      <p:sp>
        <p:nvSpPr>
          <p:cNvPr id="13" name="Shape 11"/>
          <p:cNvSpPr/>
          <p:nvPr/>
        </p:nvSpPr>
        <p:spPr>
          <a:xfrm>
            <a:off x="548640" y="2258568"/>
            <a:ext cx="1600200" cy="566928"/>
          </a:xfrm>
          <a:prstGeom prst="rect">
            <a:avLst/>
          </a:prstGeom>
          <a:solidFill>
            <a:srgbClr val="F3F8F8"/>
          </a:solidFill>
          <a:ln w="6350">
            <a:solidFill>
              <a:srgbClr val="FFFFFF"/>
            </a:solidFill>
            <a:prstDash val="solid"/>
          </a:ln>
        </p:spPr>
      </p:sp>
      <p:sp>
        <p:nvSpPr>
          <p:cNvPr id="14" name="Text 12"/>
          <p:cNvSpPr/>
          <p:nvPr/>
        </p:nvSpPr>
        <p:spPr>
          <a:xfrm>
            <a:off x="640080" y="2258568"/>
            <a:ext cx="1417320" cy="566928"/>
          </a:xfrm>
          <a:prstGeom prst="rect">
            <a:avLst/>
          </a:prstGeom>
          <a:noFill/>
          <a:ln/>
        </p:spPr>
        <p:txBody>
          <a:bodyPr wrap="square" lIns="0" tIns="0" rIns="0" bIns="0" rtlCol="0" anchor="ctr"/>
          <a:lstStyle/>
          <a:p>
            <a:pPr marL="0" indent="0">
              <a:buNone/>
            </a:pPr>
            <a:r>
              <a:rPr lang="en-US" sz="1100" b="1" dirty="0">
                <a:solidFill>
                  <a:srgbClr val="0B2E33"/>
                </a:solidFill>
                <a:latin typeface="Calibri" pitchFamily="34" charset="0"/>
                <a:ea typeface="Calibri" pitchFamily="34" charset="-122"/>
                <a:cs typeface="Calibri" pitchFamily="34" charset="-120"/>
              </a:rPr>
              <a:t>Lập kế hoạch</a:t>
            </a:r>
            <a:endParaRPr lang="en-US" sz="1100" dirty="0"/>
          </a:p>
        </p:txBody>
      </p:sp>
      <p:sp>
        <p:nvSpPr>
          <p:cNvPr id="15" name="Shape 13"/>
          <p:cNvSpPr/>
          <p:nvPr/>
        </p:nvSpPr>
        <p:spPr>
          <a:xfrm>
            <a:off x="2148840" y="2258568"/>
            <a:ext cx="1691640" cy="566928"/>
          </a:xfrm>
          <a:prstGeom prst="rect">
            <a:avLst/>
          </a:prstGeom>
          <a:solidFill>
            <a:srgbClr val="EAF6F5"/>
          </a:solidFill>
          <a:ln w="6350">
            <a:solidFill>
              <a:srgbClr val="D7E7E6"/>
            </a:solidFill>
            <a:prstDash val="solid"/>
          </a:ln>
        </p:spPr>
      </p:sp>
      <p:sp>
        <p:nvSpPr>
          <p:cNvPr id="16" name="Shape 14"/>
          <p:cNvSpPr/>
          <p:nvPr/>
        </p:nvSpPr>
        <p:spPr>
          <a:xfrm>
            <a:off x="2912364" y="2459736"/>
            <a:ext cx="164592" cy="164592"/>
          </a:xfrm>
          <a:prstGeom prst="ellipse">
            <a:avLst/>
          </a:prstGeom>
          <a:solidFill>
            <a:srgbClr val="00A896"/>
          </a:solidFill>
          <a:ln/>
        </p:spPr>
      </p:sp>
      <p:sp>
        <p:nvSpPr>
          <p:cNvPr id="17" name="Shape 15"/>
          <p:cNvSpPr/>
          <p:nvPr/>
        </p:nvSpPr>
        <p:spPr>
          <a:xfrm>
            <a:off x="3840480" y="2258568"/>
            <a:ext cx="1691640" cy="566928"/>
          </a:xfrm>
          <a:prstGeom prst="rect">
            <a:avLst/>
          </a:prstGeom>
          <a:solidFill>
            <a:srgbClr val="FFFFFF"/>
          </a:solidFill>
          <a:ln w="6350">
            <a:solidFill>
              <a:srgbClr val="D7E7E6"/>
            </a:solidFill>
            <a:prstDash val="solid"/>
          </a:ln>
        </p:spPr>
      </p:sp>
      <p:sp>
        <p:nvSpPr>
          <p:cNvPr id="18" name="Shape 16"/>
          <p:cNvSpPr/>
          <p:nvPr/>
        </p:nvSpPr>
        <p:spPr>
          <a:xfrm>
            <a:off x="4604004" y="2459736"/>
            <a:ext cx="164592" cy="164592"/>
          </a:xfrm>
          <a:prstGeom prst="ellipse">
            <a:avLst/>
          </a:prstGeom>
          <a:solidFill>
            <a:srgbClr val="00A896"/>
          </a:solidFill>
          <a:ln/>
        </p:spPr>
      </p:sp>
      <p:sp>
        <p:nvSpPr>
          <p:cNvPr id="19" name="Shape 17"/>
          <p:cNvSpPr/>
          <p:nvPr/>
        </p:nvSpPr>
        <p:spPr>
          <a:xfrm>
            <a:off x="5532120" y="2258568"/>
            <a:ext cx="1691640" cy="566928"/>
          </a:xfrm>
          <a:prstGeom prst="rect">
            <a:avLst/>
          </a:prstGeom>
          <a:solidFill>
            <a:srgbClr val="EAF6F5"/>
          </a:solidFill>
          <a:ln w="6350">
            <a:solidFill>
              <a:srgbClr val="D7E7E6"/>
            </a:solidFill>
            <a:prstDash val="solid"/>
          </a:ln>
        </p:spPr>
      </p:sp>
      <p:sp>
        <p:nvSpPr>
          <p:cNvPr id="20" name="Shape 18"/>
          <p:cNvSpPr/>
          <p:nvPr/>
        </p:nvSpPr>
        <p:spPr>
          <a:xfrm>
            <a:off x="6295644" y="2459736"/>
            <a:ext cx="164592" cy="164592"/>
          </a:xfrm>
          <a:prstGeom prst="ellipse">
            <a:avLst/>
          </a:prstGeom>
          <a:solidFill>
            <a:srgbClr val="00A896"/>
          </a:solidFill>
          <a:ln/>
        </p:spPr>
      </p:sp>
      <p:sp>
        <p:nvSpPr>
          <p:cNvPr id="21" name="Shape 19"/>
          <p:cNvSpPr/>
          <p:nvPr/>
        </p:nvSpPr>
        <p:spPr>
          <a:xfrm>
            <a:off x="7223760" y="2258568"/>
            <a:ext cx="1691640" cy="566928"/>
          </a:xfrm>
          <a:prstGeom prst="rect">
            <a:avLst/>
          </a:prstGeom>
          <a:solidFill>
            <a:srgbClr val="FFFFFF"/>
          </a:solidFill>
          <a:ln w="6350">
            <a:solidFill>
              <a:srgbClr val="D7E7E6"/>
            </a:solidFill>
            <a:prstDash val="solid"/>
          </a:ln>
        </p:spPr>
      </p:sp>
      <p:sp>
        <p:nvSpPr>
          <p:cNvPr id="22" name="Shape 20"/>
          <p:cNvSpPr/>
          <p:nvPr/>
        </p:nvSpPr>
        <p:spPr>
          <a:xfrm>
            <a:off x="7987284" y="2459736"/>
            <a:ext cx="164592" cy="164592"/>
          </a:xfrm>
          <a:prstGeom prst="ellipse">
            <a:avLst/>
          </a:prstGeom>
          <a:solidFill>
            <a:srgbClr val="00A896"/>
          </a:solidFill>
          <a:ln/>
        </p:spPr>
      </p:sp>
      <p:sp>
        <p:nvSpPr>
          <p:cNvPr id="23" name="Shape 21"/>
          <p:cNvSpPr/>
          <p:nvPr/>
        </p:nvSpPr>
        <p:spPr>
          <a:xfrm>
            <a:off x="548640" y="2825496"/>
            <a:ext cx="1600200" cy="566928"/>
          </a:xfrm>
          <a:prstGeom prst="rect">
            <a:avLst/>
          </a:prstGeom>
          <a:solidFill>
            <a:srgbClr val="F3F8F8"/>
          </a:solidFill>
          <a:ln w="6350">
            <a:solidFill>
              <a:srgbClr val="FFFFFF"/>
            </a:solidFill>
            <a:prstDash val="solid"/>
          </a:ln>
        </p:spPr>
      </p:sp>
      <p:sp>
        <p:nvSpPr>
          <p:cNvPr id="24" name="Text 22"/>
          <p:cNvSpPr/>
          <p:nvPr/>
        </p:nvSpPr>
        <p:spPr>
          <a:xfrm>
            <a:off x="640080" y="2825496"/>
            <a:ext cx="1417320" cy="566928"/>
          </a:xfrm>
          <a:prstGeom prst="rect">
            <a:avLst/>
          </a:prstGeom>
          <a:noFill/>
          <a:ln/>
        </p:spPr>
        <p:txBody>
          <a:bodyPr wrap="square" lIns="0" tIns="0" rIns="0" bIns="0" rtlCol="0" anchor="ctr"/>
          <a:lstStyle/>
          <a:p>
            <a:pPr marL="0" indent="0">
              <a:buNone/>
            </a:pPr>
            <a:r>
              <a:rPr lang="en-US" sz="1100" b="1" dirty="0">
                <a:solidFill>
                  <a:srgbClr val="0B2E33"/>
                </a:solidFill>
                <a:latin typeface="Calibri" pitchFamily="34" charset="0"/>
                <a:ea typeface="Calibri" pitchFamily="34" charset="-122"/>
                <a:cs typeface="Calibri" pitchFamily="34" charset="-120"/>
              </a:rPr>
              <a:t>Thiết kế TC</a:t>
            </a:r>
            <a:endParaRPr lang="en-US" sz="1100" dirty="0"/>
          </a:p>
        </p:txBody>
      </p:sp>
      <p:sp>
        <p:nvSpPr>
          <p:cNvPr id="25" name="Shape 23"/>
          <p:cNvSpPr/>
          <p:nvPr/>
        </p:nvSpPr>
        <p:spPr>
          <a:xfrm>
            <a:off x="2148840" y="2825496"/>
            <a:ext cx="1691640" cy="566928"/>
          </a:xfrm>
          <a:prstGeom prst="rect">
            <a:avLst/>
          </a:prstGeom>
          <a:solidFill>
            <a:srgbClr val="FFFFFF"/>
          </a:solidFill>
          <a:ln w="6350">
            <a:solidFill>
              <a:srgbClr val="D7E7E6"/>
            </a:solidFill>
            <a:prstDash val="solid"/>
          </a:ln>
        </p:spPr>
      </p:sp>
      <p:sp>
        <p:nvSpPr>
          <p:cNvPr id="26" name="Shape 24"/>
          <p:cNvSpPr/>
          <p:nvPr/>
        </p:nvSpPr>
        <p:spPr>
          <a:xfrm>
            <a:off x="2912364" y="3026664"/>
            <a:ext cx="164592" cy="164592"/>
          </a:xfrm>
          <a:prstGeom prst="ellipse">
            <a:avLst/>
          </a:prstGeom>
          <a:solidFill>
            <a:srgbClr val="00A896"/>
          </a:solidFill>
          <a:ln/>
        </p:spPr>
      </p:sp>
      <p:sp>
        <p:nvSpPr>
          <p:cNvPr id="27" name="Shape 25"/>
          <p:cNvSpPr/>
          <p:nvPr/>
        </p:nvSpPr>
        <p:spPr>
          <a:xfrm>
            <a:off x="3840480" y="2825496"/>
            <a:ext cx="1691640" cy="566928"/>
          </a:xfrm>
          <a:prstGeom prst="rect">
            <a:avLst/>
          </a:prstGeom>
          <a:solidFill>
            <a:srgbClr val="EAF6F5"/>
          </a:solidFill>
          <a:ln w="6350">
            <a:solidFill>
              <a:srgbClr val="D7E7E6"/>
            </a:solidFill>
            <a:prstDash val="solid"/>
          </a:ln>
        </p:spPr>
      </p:sp>
      <p:sp>
        <p:nvSpPr>
          <p:cNvPr id="28" name="Shape 26"/>
          <p:cNvSpPr/>
          <p:nvPr/>
        </p:nvSpPr>
        <p:spPr>
          <a:xfrm>
            <a:off x="4604004" y="3026664"/>
            <a:ext cx="164592" cy="164592"/>
          </a:xfrm>
          <a:prstGeom prst="ellipse">
            <a:avLst/>
          </a:prstGeom>
          <a:solidFill>
            <a:srgbClr val="00A896"/>
          </a:solidFill>
          <a:ln/>
        </p:spPr>
      </p:sp>
      <p:sp>
        <p:nvSpPr>
          <p:cNvPr id="29" name="Shape 27"/>
          <p:cNvSpPr/>
          <p:nvPr/>
        </p:nvSpPr>
        <p:spPr>
          <a:xfrm>
            <a:off x="5532120" y="2825496"/>
            <a:ext cx="1691640" cy="566928"/>
          </a:xfrm>
          <a:prstGeom prst="rect">
            <a:avLst/>
          </a:prstGeom>
          <a:solidFill>
            <a:srgbClr val="FFFFFF"/>
          </a:solidFill>
          <a:ln w="6350">
            <a:solidFill>
              <a:srgbClr val="D7E7E6"/>
            </a:solidFill>
            <a:prstDash val="solid"/>
          </a:ln>
        </p:spPr>
      </p:sp>
      <p:sp>
        <p:nvSpPr>
          <p:cNvPr id="30" name="Shape 28"/>
          <p:cNvSpPr/>
          <p:nvPr/>
        </p:nvSpPr>
        <p:spPr>
          <a:xfrm>
            <a:off x="6295644" y="3026664"/>
            <a:ext cx="164592" cy="164592"/>
          </a:xfrm>
          <a:prstGeom prst="ellipse">
            <a:avLst/>
          </a:prstGeom>
          <a:solidFill>
            <a:srgbClr val="00A896"/>
          </a:solidFill>
          <a:ln/>
        </p:spPr>
      </p:sp>
      <p:sp>
        <p:nvSpPr>
          <p:cNvPr id="31" name="Shape 29"/>
          <p:cNvSpPr/>
          <p:nvPr/>
        </p:nvSpPr>
        <p:spPr>
          <a:xfrm>
            <a:off x="7223760" y="2825496"/>
            <a:ext cx="1691640" cy="566928"/>
          </a:xfrm>
          <a:prstGeom prst="rect">
            <a:avLst/>
          </a:prstGeom>
          <a:solidFill>
            <a:srgbClr val="EAF6F5"/>
          </a:solidFill>
          <a:ln w="6350">
            <a:solidFill>
              <a:srgbClr val="D7E7E6"/>
            </a:solidFill>
            <a:prstDash val="solid"/>
          </a:ln>
        </p:spPr>
      </p:sp>
      <p:sp>
        <p:nvSpPr>
          <p:cNvPr id="32" name="Shape 30"/>
          <p:cNvSpPr/>
          <p:nvPr/>
        </p:nvSpPr>
        <p:spPr>
          <a:xfrm>
            <a:off x="7987284" y="3026664"/>
            <a:ext cx="164592" cy="164592"/>
          </a:xfrm>
          <a:prstGeom prst="ellipse">
            <a:avLst/>
          </a:prstGeom>
          <a:solidFill>
            <a:srgbClr val="00A896"/>
          </a:solidFill>
          <a:ln/>
        </p:spPr>
      </p:sp>
      <p:sp>
        <p:nvSpPr>
          <p:cNvPr id="33" name="Shape 31"/>
          <p:cNvSpPr/>
          <p:nvPr/>
        </p:nvSpPr>
        <p:spPr>
          <a:xfrm>
            <a:off x="548640" y="3392424"/>
            <a:ext cx="1600200" cy="566928"/>
          </a:xfrm>
          <a:prstGeom prst="rect">
            <a:avLst/>
          </a:prstGeom>
          <a:solidFill>
            <a:srgbClr val="F3F8F8"/>
          </a:solidFill>
          <a:ln w="6350">
            <a:solidFill>
              <a:srgbClr val="FFFFFF"/>
            </a:solidFill>
            <a:prstDash val="solid"/>
          </a:ln>
        </p:spPr>
      </p:sp>
      <p:sp>
        <p:nvSpPr>
          <p:cNvPr id="34" name="Text 32"/>
          <p:cNvSpPr/>
          <p:nvPr/>
        </p:nvSpPr>
        <p:spPr>
          <a:xfrm>
            <a:off x="640080" y="3392424"/>
            <a:ext cx="1417320" cy="566928"/>
          </a:xfrm>
          <a:prstGeom prst="rect">
            <a:avLst/>
          </a:prstGeom>
          <a:noFill/>
          <a:ln/>
        </p:spPr>
        <p:txBody>
          <a:bodyPr wrap="square" lIns="0" tIns="0" rIns="0" bIns="0" rtlCol="0" anchor="ctr"/>
          <a:lstStyle/>
          <a:p>
            <a:pPr marL="0" indent="0">
              <a:buNone/>
            </a:pPr>
            <a:r>
              <a:rPr lang="en-US" sz="1100" b="1" dirty="0">
                <a:solidFill>
                  <a:srgbClr val="0B2E33"/>
                </a:solidFill>
                <a:latin typeface="Calibri" pitchFamily="34" charset="0"/>
                <a:ea typeface="Calibri" pitchFamily="34" charset="-122"/>
                <a:cs typeface="Calibri" pitchFamily="34" charset="-120"/>
              </a:rPr>
              <a:t>Viết script</a:t>
            </a:r>
            <a:endParaRPr lang="en-US" sz="1100" dirty="0"/>
          </a:p>
        </p:txBody>
      </p:sp>
      <p:sp>
        <p:nvSpPr>
          <p:cNvPr id="35" name="Shape 33"/>
          <p:cNvSpPr/>
          <p:nvPr/>
        </p:nvSpPr>
        <p:spPr>
          <a:xfrm>
            <a:off x="2148840" y="3392424"/>
            <a:ext cx="1691640" cy="566928"/>
          </a:xfrm>
          <a:prstGeom prst="rect">
            <a:avLst/>
          </a:prstGeom>
          <a:solidFill>
            <a:srgbClr val="EAF6F5"/>
          </a:solidFill>
          <a:ln w="6350">
            <a:solidFill>
              <a:srgbClr val="D7E7E6"/>
            </a:solidFill>
            <a:prstDash val="solid"/>
          </a:ln>
        </p:spPr>
      </p:sp>
      <p:sp>
        <p:nvSpPr>
          <p:cNvPr id="36" name="Shape 34"/>
          <p:cNvSpPr/>
          <p:nvPr/>
        </p:nvSpPr>
        <p:spPr>
          <a:xfrm>
            <a:off x="2912364" y="3593592"/>
            <a:ext cx="164592" cy="164592"/>
          </a:xfrm>
          <a:prstGeom prst="ellipse">
            <a:avLst/>
          </a:prstGeom>
          <a:solidFill>
            <a:srgbClr val="00A896"/>
          </a:solidFill>
          <a:ln/>
        </p:spPr>
      </p:sp>
      <p:sp>
        <p:nvSpPr>
          <p:cNvPr id="37" name="Shape 35"/>
          <p:cNvSpPr/>
          <p:nvPr/>
        </p:nvSpPr>
        <p:spPr>
          <a:xfrm>
            <a:off x="3840480" y="3392424"/>
            <a:ext cx="1691640" cy="566928"/>
          </a:xfrm>
          <a:prstGeom prst="rect">
            <a:avLst/>
          </a:prstGeom>
          <a:solidFill>
            <a:srgbClr val="FFFFFF"/>
          </a:solidFill>
          <a:ln w="6350">
            <a:solidFill>
              <a:srgbClr val="D7E7E6"/>
            </a:solidFill>
            <a:prstDash val="solid"/>
          </a:ln>
        </p:spPr>
      </p:sp>
      <p:sp>
        <p:nvSpPr>
          <p:cNvPr id="38" name="Shape 36"/>
          <p:cNvSpPr/>
          <p:nvPr/>
        </p:nvSpPr>
        <p:spPr>
          <a:xfrm>
            <a:off x="4604004" y="3593592"/>
            <a:ext cx="164592" cy="164592"/>
          </a:xfrm>
          <a:prstGeom prst="ellipse">
            <a:avLst/>
          </a:prstGeom>
          <a:solidFill>
            <a:srgbClr val="00A896"/>
          </a:solidFill>
          <a:ln/>
        </p:spPr>
      </p:sp>
      <p:sp>
        <p:nvSpPr>
          <p:cNvPr id="39" name="Shape 37"/>
          <p:cNvSpPr/>
          <p:nvPr/>
        </p:nvSpPr>
        <p:spPr>
          <a:xfrm>
            <a:off x="5532120" y="3392424"/>
            <a:ext cx="1691640" cy="566928"/>
          </a:xfrm>
          <a:prstGeom prst="rect">
            <a:avLst/>
          </a:prstGeom>
          <a:solidFill>
            <a:srgbClr val="EAF6F5"/>
          </a:solidFill>
          <a:ln w="6350">
            <a:solidFill>
              <a:srgbClr val="D7E7E6"/>
            </a:solidFill>
            <a:prstDash val="solid"/>
          </a:ln>
        </p:spPr>
      </p:sp>
      <p:sp>
        <p:nvSpPr>
          <p:cNvPr id="40" name="Shape 38"/>
          <p:cNvSpPr/>
          <p:nvPr/>
        </p:nvSpPr>
        <p:spPr>
          <a:xfrm>
            <a:off x="6295644" y="3593592"/>
            <a:ext cx="164592" cy="164592"/>
          </a:xfrm>
          <a:prstGeom prst="ellipse">
            <a:avLst/>
          </a:prstGeom>
          <a:solidFill>
            <a:srgbClr val="00A896"/>
          </a:solidFill>
          <a:ln/>
        </p:spPr>
      </p:sp>
      <p:sp>
        <p:nvSpPr>
          <p:cNvPr id="41" name="Shape 39"/>
          <p:cNvSpPr/>
          <p:nvPr/>
        </p:nvSpPr>
        <p:spPr>
          <a:xfrm>
            <a:off x="7223760" y="3392424"/>
            <a:ext cx="1691640" cy="566928"/>
          </a:xfrm>
          <a:prstGeom prst="rect">
            <a:avLst/>
          </a:prstGeom>
          <a:solidFill>
            <a:srgbClr val="FFFFFF"/>
          </a:solidFill>
          <a:ln w="6350">
            <a:solidFill>
              <a:srgbClr val="D7E7E6"/>
            </a:solidFill>
            <a:prstDash val="solid"/>
          </a:ln>
        </p:spPr>
      </p:sp>
      <p:sp>
        <p:nvSpPr>
          <p:cNvPr id="42" name="Shape 40"/>
          <p:cNvSpPr/>
          <p:nvPr/>
        </p:nvSpPr>
        <p:spPr>
          <a:xfrm>
            <a:off x="7987284" y="3593592"/>
            <a:ext cx="164592" cy="164592"/>
          </a:xfrm>
          <a:prstGeom prst="ellipse">
            <a:avLst/>
          </a:prstGeom>
          <a:solidFill>
            <a:srgbClr val="00A896"/>
          </a:solidFill>
          <a:ln/>
        </p:spPr>
      </p:sp>
      <p:sp>
        <p:nvSpPr>
          <p:cNvPr id="43" name="Shape 41"/>
          <p:cNvSpPr/>
          <p:nvPr/>
        </p:nvSpPr>
        <p:spPr>
          <a:xfrm>
            <a:off x="548640" y="3959352"/>
            <a:ext cx="1600200" cy="566928"/>
          </a:xfrm>
          <a:prstGeom prst="rect">
            <a:avLst/>
          </a:prstGeom>
          <a:solidFill>
            <a:srgbClr val="F3F8F8"/>
          </a:solidFill>
          <a:ln w="6350">
            <a:solidFill>
              <a:srgbClr val="FFFFFF"/>
            </a:solidFill>
            <a:prstDash val="solid"/>
          </a:ln>
        </p:spPr>
      </p:sp>
      <p:sp>
        <p:nvSpPr>
          <p:cNvPr id="44" name="Text 42"/>
          <p:cNvSpPr/>
          <p:nvPr/>
        </p:nvSpPr>
        <p:spPr>
          <a:xfrm>
            <a:off x="640080" y="3959352"/>
            <a:ext cx="1417320" cy="566928"/>
          </a:xfrm>
          <a:prstGeom prst="rect">
            <a:avLst/>
          </a:prstGeom>
          <a:noFill/>
          <a:ln/>
        </p:spPr>
        <p:txBody>
          <a:bodyPr wrap="square" lIns="0" tIns="0" rIns="0" bIns="0" rtlCol="0" anchor="ctr"/>
          <a:lstStyle/>
          <a:p>
            <a:pPr marL="0" indent="0">
              <a:buNone/>
            </a:pPr>
            <a:r>
              <a:rPr lang="en-US" sz="1100" b="1" dirty="0">
                <a:solidFill>
                  <a:srgbClr val="0B2E33"/>
                </a:solidFill>
                <a:latin typeface="Calibri" pitchFamily="34" charset="0"/>
                <a:ea typeface="Calibri" pitchFamily="34" charset="-122"/>
                <a:cs typeface="Calibri" pitchFamily="34" charset="-120"/>
              </a:rPr>
              <a:t>Thực thi</a:t>
            </a:r>
            <a:endParaRPr lang="en-US" sz="1100" dirty="0"/>
          </a:p>
        </p:txBody>
      </p:sp>
      <p:sp>
        <p:nvSpPr>
          <p:cNvPr id="45" name="Shape 43"/>
          <p:cNvSpPr/>
          <p:nvPr/>
        </p:nvSpPr>
        <p:spPr>
          <a:xfrm>
            <a:off x="2148840" y="3959352"/>
            <a:ext cx="1691640" cy="566928"/>
          </a:xfrm>
          <a:prstGeom prst="rect">
            <a:avLst/>
          </a:prstGeom>
          <a:solidFill>
            <a:srgbClr val="FFFFFF"/>
          </a:solidFill>
          <a:ln w="6350">
            <a:solidFill>
              <a:srgbClr val="D7E7E6"/>
            </a:solidFill>
            <a:prstDash val="solid"/>
          </a:ln>
        </p:spPr>
      </p:sp>
      <p:sp>
        <p:nvSpPr>
          <p:cNvPr id="46" name="Shape 44"/>
          <p:cNvSpPr/>
          <p:nvPr/>
        </p:nvSpPr>
        <p:spPr>
          <a:xfrm>
            <a:off x="2912364" y="4160520"/>
            <a:ext cx="164592" cy="164592"/>
          </a:xfrm>
          <a:prstGeom prst="ellipse">
            <a:avLst/>
          </a:prstGeom>
          <a:solidFill>
            <a:srgbClr val="00A896"/>
          </a:solidFill>
          <a:ln/>
        </p:spPr>
      </p:sp>
      <p:sp>
        <p:nvSpPr>
          <p:cNvPr id="47" name="Shape 45"/>
          <p:cNvSpPr/>
          <p:nvPr/>
        </p:nvSpPr>
        <p:spPr>
          <a:xfrm>
            <a:off x="3840480" y="3959352"/>
            <a:ext cx="1691640" cy="566928"/>
          </a:xfrm>
          <a:prstGeom prst="rect">
            <a:avLst/>
          </a:prstGeom>
          <a:solidFill>
            <a:srgbClr val="EAF6F5"/>
          </a:solidFill>
          <a:ln w="6350">
            <a:solidFill>
              <a:srgbClr val="D7E7E6"/>
            </a:solidFill>
            <a:prstDash val="solid"/>
          </a:ln>
        </p:spPr>
      </p:sp>
      <p:sp>
        <p:nvSpPr>
          <p:cNvPr id="48" name="Shape 46"/>
          <p:cNvSpPr/>
          <p:nvPr/>
        </p:nvSpPr>
        <p:spPr>
          <a:xfrm>
            <a:off x="4604004" y="4160520"/>
            <a:ext cx="164592" cy="164592"/>
          </a:xfrm>
          <a:prstGeom prst="ellipse">
            <a:avLst/>
          </a:prstGeom>
          <a:solidFill>
            <a:srgbClr val="00A896"/>
          </a:solidFill>
          <a:ln/>
        </p:spPr>
      </p:sp>
      <p:sp>
        <p:nvSpPr>
          <p:cNvPr id="49" name="Shape 47"/>
          <p:cNvSpPr/>
          <p:nvPr/>
        </p:nvSpPr>
        <p:spPr>
          <a:xfrm>
            <a:off x="5532120" y="3959352"/>
            <a:ext cx="1691640" cy="566928"/>
          </a:xfrm>
          <a:prstGeom prst="rect">
            <a:avLst/>
          </a:prstGeom>
          <a:solidFill>
            <a:srgbClr val="FFFFFF"/>
          </a:solidFill>
          <a:ln w="6350">
            <a:solidFill>
              <a:srgbClr val="D7E7E6"/>
            </a:solidFill>
            <a:prstDash val="solid"/>
          </a:ln>
        </p:spPr>
      </p:sp>
      <p:sp>
        <p:nvSpPr>
          <p:cNvPr id="50" name="Shape 48"/>
          <p:cNvSpPr/>
          <p:nvPr/>
        </p:nvSpPr>
        <p:spPr>
          <a:xfrm>
            <a:off x="6295644" y="4160520"/>
            <a:ext cx="164592" cy="164592"/>
          </a:xfrm>
          <a:prstGeom prst="ellipse">
            <a:avLst/>
          </a:prstGeom>
          <a:solidFill>
            <a:srgbClr val="00A896"/>
          </a:solidFill>
          <a:ln/>
        </p:spPr>
      </p:sp>
      <p:sp>
        <p:nvSpPr>
          <p:cNvPr id="51" name="Shape 49"/>
          <p:cNvSpPr/>
          <p:nvPr/>
        </p:nvSpPr>
        <p:spPr>
          <a:xfrm>
            <a:off x="7223760" y="3959352"/>
            <a:ext cx="1691640" cy="566928"/>
          </a:xfrm>
          <a:prstGeom prst="rect">
            <a:avLst/>
          </a:prstGeom>
          <a:solidFill>
            <a:srgbClr val="EAF6F5"/>
          </a:solidFill>
          <a:ln w="6350">
            <a:solidFill>
              <a:srgbClr val="D7E7E6"/>
            </a:solidFill>
            <a:prstDash val="solid"/>
          </a:ln>
        </p:spPr>
      </p:sp>
      <p:sp>
        <p:nvSpPr>
          <p:cNvPr id="52" name="Shape 50"/>
          <p:cNvSpPr/>
          <p:nvPr/>
        </p:nvSpPr>
        <p:spPr>
          <a:xfrm>
            <a:off x="7987284" y="4160520"/>
            <a:ext cx="164592" cy="164592"/>
          </a:xfrm>
          <a:prstGeom prst="ellipse">
            <a:avLst/>
          </a:prstGeom>
          <a:solidFill>
            <a:srgbClr val="00A896"/>
          </a:solidFill>
          <a:ln/>
        </p:spPr>
      </p:sp>
      <p:sp>
        <p:nvSpPr>
          <p:cNvPr id="53" name="Shape 51"/>
          <p:cNvSpPr/>
          <p:nvPr/>
        </p:nvSpPr>
        <p:spPr>
          <a:xfrm>
            <a:off x="548640" y="4526280"/>
            <a:ext cx="1600200" cy="566928"/>
          </a:xfrm>
          <a:prstGeom prst="rect">
            <a:avLst/>
          </a:prstGeom>
          <a:solidFill>
            <a:srgbClr val="F3F8F8"/>
          </a:solidFill>
          <a:ln w="6350">
            <a:solidFill>
              <a:srgbClr val="FFFFFF"/>
            </a:solidFill>
            <a:prstDash val="solid"/>
          </a:ln>
        </p:spPr>
      </p:sp>
      <p:sp>
        <p:nvSpPr>
          <p:cNvPr id="54" name="Text 52"/>
          <p:cNvSpPr/>
          <p:nvPr/>
        </p:nvSpPr>
        <p:spPr>
          <a:xfrm>
            <a:off x="640080" y="4526280"/>
            <a:ext cx="1417320" cy="566928"/>
          </a:xfrm>
          <a:prstGeom prst="rect">
            <a:avLst/>
          </a:prstGeom>
          <a:noFill/>
          <a:ln/>
        </p:spPr>
        <p:txBody>
          <a:bodyPr wrap="square" lIns="0" tIns="0" rIns="0" bIns="0" rtlCol="0" anchor="ctr"/>
          <a:lstStyle/>
          <a:p>
            <a:pPr marL="0" indent="0">
              <a:buNone/>
            </a:pPr>
            <a:r>
              <a:rPr lang="en-US" sz="1100" b="1" dirty="0">
                <a:solidFill>
                  <a:srgbClr val="0B2E33"/>
                </a:solidFill>
                <a:latin typeface="Calibri" pitchFamily="34" charset="0"/>
                <a:ea typeface="Calibri" pitchFamily="34" charset="-122"/>
                <a:cs typeface="Calibri" pitchFamily="34" charset="-120"/>
              </a:rPr>
              <a:t>Báo lỗi</a:t>
            </a:r>
            <a:endParaRPr lang="en-US" sz="1100" dirty="0"/>
          </a:p>
        </p:txBody>
      </p:sp>
      <p:sp>
        <p:nvSpPr>
          <p:cNvPr id="55" name="Shape 53"/>
          <p:cNvSpPr/>
          <p:nvPr/>
        </p:nvSpPr>
        <p:spPr>
          <a:xfrm>
            <a:off x="2148840" y="4526280"/>
            <a:ext cx="1691640" cy="566928"/>
          </a:xfrm>
          <a:prstGeom prst="rect">
            <a:avLst/>
          </a:prstGeom>
          <a:solidFill>
            <a:srgbClr val="EAF6F5"/>
          </a:solidFill>
          <a:ln w="6350">
            <a:solidFill>
              <a:srgbClr val="D7E7E6"/>
            </a:solidFill>
            <a:prstDash val="solid"/>
          </a:ln>
        </p:spPr>
      </p:sp>
      <p:sp>
        <p:nvSpPr>
          <p:cNvPr id="56" name="Shape 54"/>
          <p:cNvSpPr/>
          <p:nvPr/>
        </p:nvSpPr>
        <p:spPr>
          <a:xfrm>
            <a:off x="2912364" y="4727448"/>
            <a:ext cx="164592" cy="164592"/>
          </a:xfrm>
          <a:prstGeom prst="ellipse">
            <a:avLst/>
          </a:prstGeom>
          <a:solidFill>
            <a:srgbClr val="00A896"/>
          </a:solidFill>
          <a:ln/>
        </p:spPr>
      </p:sp>
      <p:sp>
        <p:nvSpPr>
          <p:cNvPr id="57" name="Shape 55"/>
          <p:cNvSpPr/>
          <p:nvPr/>
        </p:nvSpPr>
        <p:spPr>
          <a:xfrm>
            <a:off x="3840480" y="4526280"/>
            <a:ext cx="1691640" cy="566928"/>
          </a:xfrm>
          <a:prstGeom prst="rect">
            <a:avLst/>
          </a:prstGeom>
          <a:solidFill>
            <a:srgbClr val="FFFFFF"/>
          </a:solidFill>
          <a:ln w="6350">
            <a:solidFill>
              <a:srgbClr val="D7E7E6"/>
            </a:solidFill>
            <a:prstDash val="solid"/>
          </a:ln>
        </p:spPr>
      </p:sp>
      <p:sp>
        <p:nvSpPr>
          <p:cNvPr id="58" name="Shape 56"/>
          <p:cNvSpPr/>
          <p:nvPr/>
        </p:nvSpPr>
        <p:spPr>
          <a:xfrm>
            <a:off x="4604004" y="4727448"/>
            <a:ext cx="164592" cy="164592"/>
          </a:xfrm>
          <a:prstGeom prst="ellipse">
            <a:avLst/>
          </a:prstGeom>
          <a:solidFill>
            <a:srgbClr val="00A896"/>
          </a:solidFill>
          <a:ln/>
        </p:spPr>
      </p:sp>
      <p:sp>
        <p:nvSpPr>
          <p:cNvPr id="59" name="Shape 57"/>
          <p:cNvSpPr/>
          <p:nvPr/>
        </p:nvSpPr>
        <p:spPr>
          <a:xfrm>
            <a:off x="5532120" y="4526280"/>
            <a:ext cx="1691640" cy="566928"/>
          </a:xfrm>
          <a:prstGeom prst="rect">
            <a:avLst/>
          </a:prstGeom>
          <a:solidFill>
            <a:srgbClr val="EAF6F5"/>
          </a:solidFill>
          <a:ln w="6350">
            <a:solidFill>
              <a:srgbClr val="D7E7E6"/>
            </a:solidFill>
            <a:prstDash val="solid"/>
          </a:ln>
        </p:spPr>
      </p:sp>
      <p:sp>
        <p:nvSpPr>
          <p:cNvPr id="60" name="Shape 58"/>
          <p:cNvSpPr/>
          <p:nvPr/>
        </p:nvSpPr>
        <p:spPr>
          <a:xfrm>
            <a:off x="6295644" y="4727448"/>
            <a:ext cx="164592" cy="164592"/>
          </a:xfrm>
          <a:prstGeom prst="ellipse">
            <a:avLst/>
          </a:prstGeom>
          <a:solidFill>
            <a:srgbClr val="00A896"/>
          </a:solidFill>
          <a:ln/>
        </p:spPr>
      </p:sp>
      <p:sp>
        <p:nvSpPr>
          <p:cNvPr id="61" name="Shape 59"/>
          <p:cNvSpPr/>
          <p:nvPr/>
        </p:nvSpPr>
        <p:spPr>
          <a:xfrm>
            <a:off x="7223760" y="4526280"/>
            <a:ext cx="1691640" cy="566928"/>
          </a:xfrm>
          <a:prstGeom prst="rect">
            <a:avLst/>
          </a:prstGeom>
          <a:solidFill>
            <a:srgbClr val="FFFFFF"/>
          </a:solidFill>
          <a:ln w="6350">
            <a:solidFill>
              <a:srgbClr val="D7E7E6"/>
            </a:solidFill>
            <a:prstDash val="solid"/>
          </a:ln>
        </p:spPr>
      </p:sp>
      <p:sp>
        <p:nvSpPr>
          <p:cNvPr id="62" name="Shape 60"/>
          <p:cNvSpPr/>
          <p:nvPr/>
        </p:nvSpPr>
        <p:spPr>
          <a:xfrm>
            <a:off x="7987284" y="4727448"/>
            <a:ext cx="164592" cy="164592"/>
          </a:xfrm>
          <a:prstGeom prst="ellipse">
            <a:avLst/>
          </a:prstGeom>
          <a:solidFill>
            <a:srgbClr val="00A896"/>
          </a:solidFill>
          <a:ln/>
        </p:spPr>
      </p:sp>
      <p:sp>
        <p:nvSpPr>
          <p:cNvPr id="63" name="Shape 61"/>
          <p:cNvSpPr/>
          <p:nvPr/>
        </p:nvSpPr>
        <p:spPr>
          <a:xfrm>
            <a:off x="548640" y="5093208"/>
            <a:ext cx="1600200" cy="566928"/>
          </a:xfrm>
          <a:prstGeom prst="rect">
            <a:avLst/>
          </a:prstGeom>
          <a:solidFill>
            <a:srgbClr val="F3F8F8"/>
          </a:solidFill>
          <a:ln w="6350">
            <a:solidFill>
              <a:srgbClr val="FFFFFF"/>
            </a:solidFill>
            <a:prstDash val="solid"/>
          </a:ln>
        </p:spPr>
      </p:sp>
      <p:sp>
        <p:nvSpPr>
          <p:cNvPr id="64" name="Text 62"/>
          <p:cNvSpPr/>
          <p:nvPr/>
        </p:nvSpPr>
        <p:spPr>
          <a:xfrm>
            <a:off x="640080" y="5093208"/>
            <a:ext cx="1417320" cy="566928"/>
          </a:xfrm>
          <a:prstGeom prst="rect">
            <a:avLst/>
          </a:prstGeom>
          <a:noFill/>
          <a:ln/>
        </p:spPr>
        <p:txBody>
          <a:bodyPr wrap="square" lIns="0" tIns="0" rIns="0" bIns="0" rtlCol="0" anchor="ctr"/>
          <a:lstStyle/>
          <a:p>
            <a:pPr marL="0" indent="0">
              <a:buNone/>
            </a:pPr>
            <a:r>
              <a:rPr lang="en-US" sz="1100" b="1" dirty="0">
                <a:solidFill>
                  <a:srgbClr val="0B2E33"/>
                </a:solidFill>
                <a:latin typeface="Calibri" pitchFamily="34" charset="0"/>
                <a:ea typeface="Calibri" pitchFamily="34" charset="-122"/>
                <a:cs typeface="Calibri" pitchFamily="34" charset="-120"/>
              </a:rPr>
              <a:t>Hồi quy</a:t>
            </a:r>
            <a:endParaRPr lang="en-US" sz="1100" dirty="0"/>
          </a:p>
        </p:txBody>
      </p:sp>
      <p:sp>
        <p:nvSpPr>
          <p:cNvPr id="65" name="Shape 63"/>
          <p:cNvSpPr/>
          <p:nvPr/>
        </p:nvSpPr>
        <p:spPr>
          <a:xfrm>
            <a:off x="2148840" y="5093208"/>
            <a:ext cx="1691640" cy="566928"/>
          </a:xfrm>
          <a:prstGeom prst="rect">
            <a:avLst/>
          </a:prstGeom>
          <a:solidFill>
            <a:srgbClr val="FFFFFF"/>
          </a:solidFill>
          <a:ln w="6350">
            <a:solidFill>
              <a:srgbClr val="D7E7E6"/>
            </a:solidFill>
            <a:prstDash val="solid"/>
          </a:ln>
        </p:spPr>
      </p:sp>
      <p:sp>
        <p:nvSpPr>
          <p:cNvPr id="66" name="Shape 64"/>
          <p:cNvSpPr/>
          <p:nvPr/>
        </p:nvSpPr>
        <p:spPr>
          <a:xfrm>
            <a:off x="2912364" y="5294376"/>
            <a:ext cx="164592" cy="164592"/>
          </a:xfrm>
          <a:prstGeom prst="ellipse">
            <a:avLst/>
          </a:prstGeom>
          <a:solidFill>
            <a:srgbClr val="00A896"/>
          </a:solidFill>
          <a:ln/>
        </p:spPr>
      </p:sp>
      <p:sp>
        <p:nvSpPr>
          <p:cNvPr id="67" name="Shape 65"/>
          <p:cNvSpPr/>
          <p:nvPr/>
        </p:nvSpPr>
        <p:spPr>
          <a:xfrm>
            <a:off x="3840480" y="5093208"/>
            <a:ext cx="1691640" cy="566928"/>
          </a:xfrm>
          <a:prstGeom prst="rect">
            <a:avLst/>
          </a:prstGeom>
          <a:solidFill>
            <a:srgbClr val="EAF6F5"/>
          </a:solidFill>
          <a:ln w="6350">
            <a:solidFill>
              <a:srgbClr val="D7E7E6"/>
            </a:solidFill>
            <a:prstDash val="solid"/>
          </a:ln>
        </p:spPr>
      </p:sp>
      <p:sp>
        <p:nvSpPr>
          <p:cNvPr id="68" name="Shape 66"/>
          <p:cNvSpPr/>
          <p:nvPr/>
        </p:nvSpPr>
        <p:spPr>
          <a:xfrm>
            <a:off x="4604004" y="5294376"/>
            <a:ext cx="164592" cy="164592"/>
          </a:xfrm>
          <a:prstGeom prst="ellipse">
            <a:avLst/>
          </a:prstGeom>
          <a:solidFill>
            <a:srgbClr val="00A896"/>
          </a:solidFill>
          <a:ln/>
        </p:spPr>
      </p:sp>
      <p:sp>
        <p:nvSpPr>
          <p:cNvPr id="69" name="Shape 67"/>
          <p:cNvSpPr/>
          <p:nvPr/>
        </p:nvSpPr>
        <p:spPr>
          <a:xfrm>
            <a:off x="5532120" y="5093208"/>
            <a:ext cx="1691640" cy="566928"/>
          </a:xfrm>
          <a:prstGeom prst="rect">
            <a:avLst/>
          </a:prstGeom>
          <a:solidFill>
            <a:srgbClr val="FFFFFF"/>
          </a:solidFill>
          <a:ln w="6350">
            <a:solidFill>
              <a:srgbClr val="D7E7E6"/>
            </a:solidFill>
            <a:prstDash val="solid"/>
          </a:ln>
        </p:spPr>
      </p:sp>
      <p:sp>
        <p:nvSpPr>
          <p:cNvPr id="70" name="Shape 68"/>
          <p:cNvSpPr/>
          <p:nvPr/>
        </p:nvSpPr>
        <p:spPr>
          <a:xfrm>
            <a:off x="6295644" y="5294376"/>
            <a:ext cx="164592" cy="164592"/>
          </a:xfrm>
          <a:prstGeom prst="ellipse">
            <a:avLst/>
          </a:prstGeom>
          <a:solidFill>
            <a:srgbClr val="00A896"/>
          </a:solidFill>
          <a:ln/>
        </p:spPr>
      </p:sp>
      <p:sp>
        <p:nvSpPr>
          <p:cNvPr id="71" name="Shape 69"/>
          <p:cNvSpPr/>
          <p:nvPr/>
        </p:nvSpPr>
        <p:spPr>
          <a:xfrm>
            <a:off x="7223760" y="5093208"/>
            <a:ext cx="1691640" cy="566928"/>
          </a:xfrm>
          <a:prstGeom prst="rect">
            <a:avLst/>
          </a:prstGeom>
          <a:solidFill>
            <a:srgbClr val="EAF6F5"/>
          </a:solidFill>
          <a:ln w="6350">
            <a:solidFill>
              <a:srgbClr val="D7E7E6"/>
            </a:solidFill>
            <a:prstDash val="solid"/>
          </a:ln>
        </p:spPr>
      </p:sp>
      <p:sp>
        <p:nvSpPr>
          <p:cNvPr id="72" name="Shape 70"/>
          <p:cNvSpPr/>
          <p:nvPr/>
        </p:nvSpPr>
        <p:spPr>
          <a:xfrm>
            <a:off x="7987284" y="5294376"/>
            <a:ext cx="164592" cy="164592"/>
          </a:xfrm>
          <a:prstGeom prst="ellipse">
            <a:avLst/>
          </a:prstGeom>
          <a:solidFill>
            <a:srgbClr val="00A896"/>
          </a:solidFill>
          <a:ln/>
        </p:spPr>
      </p:sp>
      <p:sp>
        <p:nvSpPr>
          <p:cNvPr id="73" name="Text 71"/>
          <p:cNvSpPr/>
          <p:nvPr/>
        </p:nvSpPr>
        <p:spPr>
          <a:xfrm>
            <a:off x="548640" y="5843016"/>
            <a:ext cx="10881360" cy="457200"/>
          </a:xfrm>
          <a:prstGeom prst="rect">
            <a:avLst/>
          </a:prstGeom>
          <a:noFill/>
          <a:ln/>
        </p:spPr>
        <p:txBody>
          <a:bodyPr wrap="square" lIns="0" tIns="0" rIns="0" bIns="0" rtlCol="0" anchor="ctr"/>
          <a:lstStyle/>
          <a:p>
            <a:pPr marL="0" indent="0">
              <a:buNone/>
            </a:pPr>
            <a:r>
              <a:rPr lang="en-US" sz="1100" i="1" dirty="0">
                <a:solidFill>
                  <a:srgbClr val="5B7B7E"/>
                </a:solidFill>
                <a:latin typeface="Calibri" pitchFamily="34" charset="0"/>
                <a:ea typeface="Calibri" pitchFamily="34" charset="-122"/>
                <a:cs typeface="Calibri" pitchFamily="34" charset="-120"/>
              </a:rPr>
              <a:t>● : Codex có vai trò hỗ trợ cụ thể tại giao điểm giai đoạn × loại hình kiểm thử. Chi tiết từng nhóm được trình bày ở các phần trước.</a:t>
            </a:r>
            <a:endParaRPr lang="en-US" sz="1100" dirty="0"/>
          </a:p>
        </p:txBody>
      </p:sp>
      <p:sp>
        <p:nvSpPr>
          <p:cNvPr id="74" name="Text 72"/>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75" name="Text 73"/>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KẾT QUẢ KỲ VỌNG</a:t>
            </a:r>
            <a:endParaRPr lang="en-US" sz="1200" dirty="0"/>
          </a:p>
        </p:txBody>
      </p:sp>
      <p:sp>
        <p:nvSpPr>
          <p:cNvPr id="3" name="Text 1"/>
          <p:cNvSpPr/>
          <p:nvPr/>
        </p:nvSpPr>
        <p:spPr>
          <a:xfrm>
            <a:off x="548640" y="685800"/>
            <a:ext cx="10789920" cy="640080"/>
          </a:xfrm>
          <a:prstGeom prst="rect">
            <a:avLst/>
          </a:prstGeom>
          <a:noFill/>
          <a:ln/>
        </p:spPr>
        <p:txBody>
          <a:bodyPr wrap="square" lIns="0" tIns="0" rIns="0" bIns="0" rtlCol="0" anchor="ctr"/>
          <a:lstStyle/>
          <a:p>
            <a:pPr marL="0" indent="0">
              <a:buNone/>
            </a:pPr>
            <a:r>
              <a:rPr lang="en-US" sz="2700" b="1" dirty="0">
                <a:solidFill>
                  <a:srgbClr val="0B2E33"/>
                </a:solidFill>
                <a:latin typeface="Cambria" pitchFamily="34" charset="0"/>
                <a:ea typeface="Cambria" pitchFamily="34" charset="-122"/>
                <a:cs typeface="Cambria" pitchFamily="34" charset="-120"/>
              </a:rPr>
              <a:t>Lợi ích khi áp dụng cả hai trục</a:t>
            </a:r>
            <a:endParaRPr lang="en-US" sz="2700" dirty="0"/>
          </a:p>
        </p:txBody>
      </p:sp>
      <p:sp>
        <p:nvSpPr>
          <p:cNvPr id="4" name="Shape 2"/>
          <p:cNvSpPr/>
          <p:nvPr/>
        </p:nvSpPr>
        <p:spPr>
          <a:xfrm>
            <a:off x="548640" y="1828800"/>
            <a:ext cx="2514600" cy="2377440"/>
          </a:xfrm>
          <a:prstGeom prst="roundRect">
            <a:avLst>
              <a:gd name="adj" fmla="val 4615"/>
            </a:avLst>
          </a:prstGeom>
          <a:solidFill>
            <a:srgbClr val="F3F8F8"/>
          </a:solidFill>
          <a:ln/>
          <a:effectLst>
            <a:outerShdw blurRad="76200" dist="25400" dir="5400000" algn="bl" rotWithShape="0">
              <a:srgbClr val="013335">
                <a:alpha val="25000"/>
              </a:srgbClr>
            </a:outerShdw>
          </a:effectLst>
        </p:spPr>
      </p:sp>
      <p:sp>
        <p:nvSpPr>
          <p:cNvPr id="5" name="Text 3"/>
          <p:cNvSpPr/>
          <p:nvPr/>
        </p:nvSpPr>
        <p:spPr>
          <a:xfrm>
            <a:off x="548640" y="2011680"/>
            <a:ext cx="2514600" cy="82296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731520" y="2880360"/>
            <a:ext cx="2148840" cy="1188720"/>
          </a:xfrm>
          <a:prstGeom prst="rect">
            <a:avLst/>
          </a:prstGeom>
          <a:noFill/>
          <a:ln/>
        </p:spPr>
        <p:txBody>
          <a:bodyPr wrap="square" lIns="0" tIns="0" rIns="0" bIns="0" rtlCol="0" anchor="ctr"/>
          <a:lstStyle/>
          <a:p>
            <a:pPr marL="0" indent="0" algn="ctr">
              <a:lnSpc>
                <a:spcPts val="1500"/>
              </a:lnSpc>
              <a:buNone/>
            </a:pPr>
            <a:r>
              <a:rPr lang="en-US" sz="1100" dirty="0">
                <a:solidFill>
                  <a:srgbClr val="0B2E33"/>
                </a:solidFill>
                <a:latin typeface="Calibri" pitchFamily="34" charset="0"/>
                <a:ea typeface="Calibri" pitchFamily="34" charset="-122"/>
                <a:cs typeface="Calibri" pitchFamily="34" charset="-120"/>
              </a:rPr>
              <a:t>Thời gian viết test (mọi loại hình) giảm nhờ tự động sinh</a:t>
            </a:r>
            <a:endParaRPr lang="en-US" sz="1100" dirty="0"/>
          </a:p>
        </p:txBody>
      </p:sp>
      <p:sp>
        <p:nvSpPr>
          <p:cNvPr id="7" name="Shape 5"/>
          <p:cNvSpPr/>
          <p:nvPr/>
        </p:nvSpPr>
        <p:spPr>
          <a:xfrm>
            <a:off x="3291840" y="1828800"/>
            <a:ext cx="2514600" cy="2377440"/>
          </a:xfrm>
          <a:prstGeom prst="roundRect">
            <a:avLst>
              <a:gd name="adj" fmla="val 4615"/>
            </a:avLst>
          </a:prstGeom>
          <a:solidFill>
            <a:srgbClr val="F3F8F8"/>
          </a:solidFill>
          <a:ln/>
          <a:effectLst>
            <a:outerShdw blurRad="76200" dist="25400" dir="5400000" algn="bl" rotWithShape="0">
              <a:srgbClr val="013335">
                <a:alpha val="25000"/>
              </a:srgbClr>
            </a:outerShdw>
          </a:effectLst>
        </p:spPr>
      </p:sp>
      <p:sp>
        <p:nvSpPr>
          <p:cNvPr id="8" name="Text 6"/>
          <p:cNvSpPr/>
          <p:nvPr/>
        </p:nvSpPr>
        <p:spPr>
          <a:xfrm>
            <a:off x="3291840" y="2011680"/>
            <a:ext cx="2514600" cy="82296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a:t>
            </a:r>
            <a:endParaRPr lang="en-US" sz="4600" dirty="0"/>
          </a:p>
        </p:txBody>
      </p:sp>
      <p:sp>
        <p:nvSpPr>
          <p:cNvPr id="9" name="Text 7"/>
          <p:cNvSpPr/>
          <p:nvPr/>
        </p:nvSpPr>
        <p:spPr>
          <a:xfrm>
            <a:off x="3474720" y="2880360"/>
            <a:ext cx="2148840" cy="1188720"/>
          </a:xfrm>
          <a:prstGeom prst="rect">
            <a:avLst/>
          </a:prstGeom>
          <a:noFill/>
          <a:ln/>
        </p:spPr>
        <p:txBody>
          <a:bodyPr wrap="square" lIns="0" tIns="0" rIns="0" bIns="0" rtlCol="0" anchor="ctr"/>
          <a:lstStyle/>
          <a:p>
            <a:pPr marL="0" indent="0" algn="ctr">
              <a:lnSpc>
                <a:spcPts val="1500"/>
              </a:lnSpc>
              <a:buNone/>
            </a:pPr>
            <a:r>
              <a:rPr lang="en-US" sz="1100" dirty="0">
                <a:solidFill>
                  <a:srgbClr val="0B2E33"/>
                </a:solidFill>
                <a:latin typeface="Calibri" pitchFamily="34" charset="0"/>
                <a:ea typeface="Calibri" pitchFamily="34" charset="-122"/>
                <a:cs typeface="Calibri" pitchFamily="34" charset="-120"/>
              </a:rPr>
              <a:t>Độ phủ tăng — cả về giai đoạn lẫn loại hình kiểm thử</a:t>
            </a:r>
            <a:endParaRPr lang="en-US" sz="1100" dirty="0"/>
          </a:p>
        </p:txBody>
      </p:sp>
      <p:sp>
        <p:nvSpPr>
          <p:cNvPr id="10" name="Shape 8"/>
          <p:cNvSpPr/>
          <p:nvPr/>
        </p:nvSpPr>
        <p:spPr>
          <a:xfrm>
            <a:off x="6035040" y="1828800"/>
            <a:ext cx="2514600" cy="2377440"/>
          </a:xfrm>
          <a:prstGeom prst="roundRect">
            <a:avLst>
              <a:gd name="adj" fmla="val 4615"/>
            </a:avLst>
          </a:prstGeom>
          <a:solidFill>
            <a:srgbClr val="F3F8F8"/>
          </a:solidFill>
          <a:ln/>
          <a:effectLst>
            <a:outerShdw blurRad="76200" dist="25400" dir="5400000" algn="bl" rotWithShape="0">
              <a:srgbClr val="013335">
                <a:alpha val="25000"/>
              </a:srgbClr>
            </a:outerShdw>
          </a:effectLst>
        </p:spPr>
      </p:sp>
      <p:sp>
        <p:nvSpPr>
          <p:cNvPr id="11" name="Text 9"/>
          <p:cNvSpPr/>
          <p:nvPr/>
        </p:nvSpPr>
        <p:spPr>
          <a:xfrm>
            <a:off x="6035040" y="2011680"/>
            <a:ext cx="2514600" cy="82296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a:t>
            </a:r>
            <a:endParaRPr lang="en-US" sz="4600" dirty="0"/>
          </a:p>
        </p:txBody>
      </p:sp>
      <p:sp>
        <p:nvSpPr>
          <p:cNvPr id="12" name="Text 10"/>
          <p:cNvSpPr/>
          <p:nvPr/>
        </p:nvSpPr>
        <p:spPr>
          <a:xfrm>
            <a:off x="6217920" y="2880360"/>
            <a:ext cx="2148840" cy="1188720"/>
          </a:xfrm>
          <a:prstGeom prst="rect">
            <a:avLst/>
          </a:prstGeom>
          <a:noFill/>
          <a:ln/>
        </p:spPr>
        <p:txBody>
          <a:bodyPr wrap="square" lIns="0" tIns="0" rIns="0" bIns="0" rtlCol="0" anchor="ctr"/>
          <a:lstStyle/>
          <a:p>
            <a:pPr marL="0" indent="0" algn="ctr">
              <a:lnSpc>
                <a:spcPts val="1500"/>
              </a:lnSpc>
              <a:buNone/>
            </a:pPr>
            <a:r>
              <a:rPr lang="en-US" sz="1100" dirty="0">
                <a:solidFill>
                  <a:srgbClr val="0B2E33"/>
                </a:solidFill>
                <a:latin typeface="Calibri" pitchFamily="34" charset="0"/>
                <a:ea typeface="Calibri" pitchFamily="34" charset="-122"/>
                <a:cs typeface="Calibri" pitchFamily="34" charset="-120"/>
              </a:rPr>
              <a:t>Nhất quán hơn giữa các nhóm Unit/UI/Security/Performance</a:t>
            </a:r>
            <a:endParaRPr lang="en-US" sz="1100" dirty="0"/>
          </a:p>
        </p:txBody>
      </p:sp>
      <p:sp>
        <p:nvSpPr>
          <p:cNvPr id="13" name="Shape 11"/>
          <p:cNvSpPr/>
          <p:nvPr/>
        </p:nvSpPr>
        <p:spPr>
          <a:xfrm>
            <a:off x="8778240" y="1828800"/>
            <a:ext cx="2514600" cy="2377440"/>
          </a:xfrm>
          <a:prstGeom prst="roundRect">
            <a:avLst>
              <a:gd name="adj" fmla="val 4615"/>
            </a:avLst>
          </a:prstGeom>
          <a:solidFill>
            <a:srgbClr val="F3F8F8"/>
          </a:solidFill>
          <a:ln/>
          <a:effectLst>
            <a:outerShdw blurRad="76200" dist="25400" dir="5400000" algn="bl" rotWithShape="0">
              <a:srgbClr val="013335">
                <a:alpha val="25000"/>
              </a:srgbClr>
            </a:outerShdw>
          </a:effectLst>
        </p:spPr>
      </p:sp>
      <p:sp>
        <p:nvSpPr>
          <p:cNvPr id="14" name="Text 12"/>
          <p:cNvSpPr/>
          <p:nvPr/>
        </p:nvSpPr>
        <p:spPr>
          <a:xfrm>
            <a:off x="8778240" y="2011680"/>
            <a:ext cx="2514600" cy="82296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a:t>
            </a:r>
            <a:endParaRPr lang="en-US" sz="4600" dirty="0"/>
          </a:p>
        </p:txBody>
      </p:sp>
      <p:sp>
        <p:nvSpPr>
          <p:cNvPr id="15" name="Text 13"/>
          <p:cNvSpPr/>
          <p:nvPr/>
        </p:nvSpPr>
        <p:spPr>
          <a:xfrm>
            <a:off x="8961120" y="2880360"/>
            <a:ext cx="2148840" cy="1188720"/>
          </a:xfrm>
          <a:prstGeom prst="rect">
            <a:avLst/>
          </a:prstGeom>
          <a:noFill/>
          <a:ln/>
        </p:spPr>
        <p:txBody>
          <a:bodyPr wrap="square" lIns="0" tIns="0" rIns="0" bIns="0" rtlCol="0" anchor="ctr"/>
          <a:lstStyle/>
          <a:p>
            <a:pPr marL="0" indent="0" algn="ctr">
              <a:lnSpc>
                <a:spcPts val="1500"/>
              </a:lnSpc>
              <a:buNone/>
            </a:pPr>
            <a:r>
              <a:rPr lang="en-US" sz="1100" dirty="0">
                <a:solidFill>
                  <a:srgbClr val="0B2E33"/>
                </a:solidFill>
                <a:latin typeface="Calibri" pitchFamily="34" charset="0"/>
                <a:ea typeface="Calibri" pitchFamily="34" charset="-122"/>
                <a:cs typeface="Calibri" pitchFamily="34" charset="-120"/>
              </a:rPr>
              <a:t>Phát hiện — sửa lỗi nhanh hơn nhờ phân tích tự động</a:t>
            </a:r>
            <a:endParaRPr lang="en-US" sz="1100" dirty="0"/>
          </a:p>
        </p:txBody>
      </p:sp>
      <p:sp>
        <p:nvSpPr>
          <p:cNvPr id="16" name="Text 14"/>
          <p:cNvSpPr/>
          <p:nvPr/>
        </p:nvSpPr>
        <p:spPr>
          <a:xfrm>
            <a:off x="548640" y="4526280"/>
            <a:ext cx="10881360" cy="548640"/>
          </a:xfrm>
          <a:prstGeom prst="rect">
            <a:avLst/>
          </a:prstGeom>
          <a:noFill/>
          <a:ln/>
        </p:spPr>
        <p:txBody>
          <a:bodyPr wrap="square" lIns="0" tIns="0" rIns="0" bIns="0" rtlCol="0" anchor="ctr"/>
          <a:lstStyle/>
          <a:p>
            <a:pPr marL="0" indent="0">
              <a:lnSpc>
                <a:spcPts val="1400"/>
              </a:lnSpc>
              <a:buNone/>
            </a:pPr>
            <a:r>
              <a:rPr lang="en-US" sz="1050" i="1" dirty="0">
                <a:solidFill>
                  <a:srgbClr val="5B7B7E"/>
                </a:solidFill>
                <a:latin typeface="Calibri" pitchFamily="34" charset="0"/>
                <a:ea typeface="Calibri" pitchFamily="34" charset="-122"/>
                <a:cs typeface="Calibri" pitchFamily="34" charset="-120"/>
              </a:rPr>
              <a:t>Lưu ý: đây là xu hướng lợi ích ghi nhận phổ biến, không phải số đo thực tế của một dự án cụ thể — cần tự đo lường khi áp dụng.</a:t>
            </a:r>
            <a:endParaRPr lang="en-US" sz="1050" dirty="0"/>
          </a:p>
        </p:txBody>
      </p:sp>
      <p:sp>
        <p:nvSpPr>
          <p:cNvPr id="17" name="Shape 15"/>
          <p:cNvSpPr/>
          <p:nvPr/>
        </p:nvSpPr>
        <p:spPr>
          <a:xfrm>
            <a:off x="548640" y="5257800"/>
            <a:ext cx="10881360" cy="1051560"/>
          </a:xfrm>
          <a:prstGeom prst="roundRect">
            <a:avLst>
              <a:gd name="adj" fmla="val 8696"/>
            </a:avLst>
          </a:prstGeom>
          <a:solidFill>
            <a:srgbClr val="0B2E33"/>
          </a:solidFill>
          <a:ln/>
        </p:spPr>
      </p:sp>
      <p:sp>
        <p:nvSpPr>
          <p:cNvPr id="18" name="Text 16"/>
          <p:cNvSpPr/>
          <p:nvPr/>
        </p:nvSpPr>
        <p:spPr>
          <a:xfrm>
            <a:off x="914400" y="5257800"/>
            <a:ext cx="10149840" cy="1051560"/>
          </a:xfrm>
          <a:prstGeom prst="rect">
            <a:avLst/>
          </a:prstGeom>
          <a:noFill/>
          <a:ln/>
        </p:spPr>
        <p:txBody>
          <a:bodyPr wrap="square" lIns="0" tIns="0" rIns="0" bIns="0" rtlCol="0" anchor="ctr"/>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Nguyên tắc cốt lõi:  “Codex tăng tốc, con người quyết định.”  Áp dụng cho mọi loại hình kiểm thử, mọi đề xuất của Codex đều cần reviewer xác nhận trước khi merge.</a:t>
            </a:r>
            <a:endParaRPr lang="en-US" sz="1250" dirty="0"/>
          </a:p>
        </p:txBody>
      </p:sp>
      <p:sp>
        <p:nvSpPr>
          <p:cNvPr id="19" name="Text 17"/>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0" name="Text 18"/>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NHÌN THẲNG VÀO RỦI RO</a:t>
            </a:r>
            <a:endParaRPr lang="en-US" sz="1200" dirty="0"/>
          </a:p>
        </p:txBody>
      </p:sp>
      <p:sp>
        <p:nvSpPr>
          <p:cNvPr id="3" name="Text 1"/>
          <p:cNvSpPr/>
          <p:nvPr/>
        </p:nvSpPr>
        <p:spPr>
          <a:xfrm>
            <a:off x="548640" y="685800"/>
            <a:ext cx="10789920" cy="640080"/>
          </a:xfrm>
          <a:prstGeom prst="rect">
            <a:avLst/>
          </a:prstGeom>
          <a:noFill/>
          <a:ln/>
        </p:spPr>
        <p:txBody>
          <a:bodyPr wrap="square" lIns="0" tIns="0" rIns="0" bIns="0" rtlCol="0" anchor="ctr"/>
          <a:lstStyle/>
          <a:p>
            <a:pPr marL="0" indent="0">
              <a:buNone/>
            </a:pPr>
            <a:r>
              <a:rPr lang="en-US" sz="2700" b="1" dirty="0">
                <a:solidFill>
                  <a:srgbClr val="0B2E33"/>
                </a:solidFill>
                <a:latin typeface="Cambria" pitchFamily="34" charset="0"/>
                <a:ea typeface="Cambria" pitchFamily="34" charset="-122"/>
                <a:cs typeface="Cambria" pitchFamily="34" charset="-120"/>
              </a:rPr>
              <a:t>Hạn chế cần lưu ý</a:t>
            </a:r>
            <a:endParaRPr lang="en-US" sz="2700" dirty="0"/>
          </a:p>
        </p:txBody>
      </p:sp>
      <p:sp>
        <p:nvSpPr>
          <p:cNvPr id="4" name="Shape 2"/>
          <p:cNvSpPr/>
          <p:nvPr/>
        </p:nvSpPr>
        <p:spPr>
          <a:xfrm>
            <a:off x="548640" y="1737360"/>
            <a:ext cx="5120640" cy="1920240"/>
          </a:xfrm>
          <a:prstGeom prst="roundRect">
            <a:avLst>
              <a:gd name="adj" fmla="val 5714"/>
            </a:avLst>
          </a:prstGeom>
          <a:solidFill>
            <a:srgbClr val="F3F8F8"/>
          </a:solidFill>
          <a:ln w="12700">
            <a:solidFill>
              <a:srgbClr val="D7E7E6"/>
            </a:solidFill>
            <a:prstDash val="solid"/>
          </a:ln>
        </p:spPr>
      </p:sp>
      <p:sp>
        <p:nvSpPr>
          <p:cNvPr id="5" name="Shape 3"/>
          <p:cNvSpPr/>
          <p:nvPr/>
        </p:nvSpPr>
        <p:spPr>
          <a:xfrm>
            <a:off x="822960" y="2011680"/>
            <a:ext cx="411480" cy="411480"/>
          </a:xfrm>
          <a:prstGeom prst="ellipse">
            <a:avLst/>
          </a:prstGeom>
          <a:solidFill>
            <a:srgbClr val="00A896"/>
          </a:solidFill>
          <a:ln/>
        </p:spPr>
      </p:sp>
      <p:sp>
        <p:nvSpPr>
          <p:cNvPr id="6" name="Text 4"/>
          <p:cNvSpPr/>
          <p:nvPr/>
        </p:nvSpPr>
        <p:spPr>
          <a:xfrm>
            <a:off x="822960" y="20116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417320" y="1993392"/>
            <a:ext cx="4023360" cy="411480"/>
          </a:xfrm>
          <a:prstGeom prst="rect">
            <a:avLst/>
          </a:prstGeom>
          <a:noFill/>
          <a:ln/>
        </p:spPr>
        <p:txBody>
          <a:bodyPr wrap="square" lIns="0" tIns="0" rIns="0" bIns="0" rtlCol="0" anchor="ctr"/>
          <a:lstStyle/>
          <a:p>
            <a:pPr marL="0" indent="0">
              <a:buNone/>
            </a:pPr>
            <a:r>
              <a:rPr lang="en-US" sz="1400" b="1" dirty="0">
                <a:solidFill>
                  <a:srgbClr val="0B2E33"/>
                </a:solidFill>
                <a:latin typeface="Calibri" pitchFamily="34" charset="0"/>
                <a:ea typeface="Calibri" pitchFamily="34" charset="-122"/>
                <a:cs typeface="Calibri" pitchFamily="34" charset="-120"/>
              </a:rPr>
              <a:t>Thiếu ngữ cảnh nghiệp vụ</a:t>
            </a:r>
            <a:endParaRPr lang="en-US" sz="1400" dirty="0"/>
          </a:p>
        </p:txBody>
      </p:sp>
      <p:sp>
        <p:nvSpPr>
          <p:cNvPr id="8" name="Text 6"/>
          <p:cNvSpPr/>
          <p:nvPr/>
        </p:nvSpPr>
        <p:spPr>
          <a:xfrm>
            <a:off x="822960" y="2514600"/>
            <a:ext cx="4572000" cy="100584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Codex có thể sinh test đúng cú pháp nhưng sai logic nghiệp vụ nếu đặc tả mơ hồ.</a:t>
            </a:r>
            <a:endParaRPr lang="en-US" sz="1150" dirty="0"/>
          </a:p>
        </p:txBody>
      </p:sp>
      <p:sp>
        <p:nvSpPr>
          <p:cNvPr id="9" name="Shape 7"/>
          <p:cNvSpPr/>
          <p:nvPr/>
        </p:nvSpPr>
        <p:spPr>
          <a:xfrm>
            <a:off x="5943600" y="1737360"/>
            <a:ext cx="5120640" cy="1920240"/>
          </a:xfrm>
          <a:prstGeom prst="roundRect">
            <a:avLst>
              <a:gd name="adj" fmla="val 5714"/>
            </a:avLst>
          </a:prstGeom>
          <a:solidFill>
            <a:srgbClr val="F3F8F8"/>
          </a:solidFill>
          <a:ln w="12700">
            <a:solidFill>
              <a:srgbClr val="D7E7E6"/>
            </a:solidFill>
            <a:prstDash val="solid"/>
          </a:ln>
        </p:spPr>
      </p:sp>
      <p:sp>
        <p:nvSpPr>
          <p:cNvPr id="10" name="Shape 8"/>
          <p:cNvSpPr/>
          <p:nvPr/>
        </p:nvSpPr>
        <p:spPr>
          <a:xfrm>
            <a:off x="6217920" y="2011680"/>
            <a:ext cx="411480" cy="411480"/>
          </a:xfrm>
          <a:prstGeom prst="ellipse">
            <a:avLst/>
          </a:prstGeom>
          <a:solidFill>
            <a:srgbClr val="00A896"/>
          </a:solidFill>
          <a:ln/>
        </p:spPr>
      </p:sp>
      <p:sp>
        <p:nvSpPr>
          <p:cNvPr id="11" name="Text 9"/>
          <p:cNvSpPr/>
          <p:nvPr/>
        </p:nvSpPr>
        <p:spPr>
          <a:xfrm>
            <a:off x="6217920" y="20116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6812280" y="1993392"/>
            <a:ext cx="4023360" cy="411480"/>
          </a:xfrm>
          <a:prstGeom prst="rect">
            <a:avLst/>
          </a:prstGeom>
          <a:noFill/>
          <a:ln/>
        </p:spPr>
        <p:txBody>
          <a:bodyPr wrap="square" lIns="0" tIns="0" rIns="0" bIns="0" rtlCol="0" anchor="ctr"/>
          <a:lstStyle/>
          <a:p>
            <a:pPr marL="0" indent="0">
              <a:buNone/>
            </a:pPr>
            <a:r>
              <a:rPr lang="en-US" sz="1400" b="1" dirty="0">
                <a:solidFill>
                  <a:srgbClr val="0B2E33"/>
                </a:solidFill>
                <a:latin typeface="Calibri" pitchFamily="34" charset="0"/>
                <a:ea typeface="Calibri" pitchFamily="34" charset="-122"/>
                <a:cs typeface="Calibri" pitchFamily="34" charset="-120"/>
              </a:rPr>
              <a:t>Không thay thế công cụ chuyên dụng</a:t>
            </a:r>
            <a:endParaRPr lang="en-US" sz="1400" dirty="0"/>
          </a:p>
        </p:txBody>
      </p:sp>
      <p:sp>
        <p:nvSpPr>
          <p:cNvPr id="13" name="Text 11"/>
          <p:cNvSpPr/>
          <p:nvPr/>
        </p:nvSpPr>
        <p:spPr>
          <a:xfrm>
            <a:off x="6217920" y="2514600"/>
            <a:ext cx="4572000" cy="100584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Visual-AI (Applitools), fuzzing chuyên sâu (Mayhem) vẫn vượt trội hơn Codex ở đúng chuyên môn của chúng.</a:t>
            </a:r>
            <a:endParaRPr lang="en-US" sz="1150" dirty="0"/>
          </a:p>
        </p:txBody>
      </p:sp>
      <p:sp>
        <p:nvSpPr>
          <p:cNvPr id="14" name="Shape 12"/>
          <p:cNvSpPr/>
          <p:nvPr/>
        </p:nvSpPr>
        <p:spPr>
          <a:xfrm>
            <a:off x="548640" y="3931920"/>
            <a:ext cx="5120640" cy="1920240"/>
          </a:xfrm>
          <a:prstGeom prst="roundRect">
            <a:avLst>
              <a:gd name="adj" fmla="val 5714"/>
            </a:avLst>
          </a:prstGeom>
          <a:solidFill>
            <a:srgbClr val="F3F8F8"/>
          </a:solidFill>
          <a:ln w="12700">
            <a:solidFill>
              <a:srgbClr val="D7E7E6"/>
            </a:solidFill>
            <a:prstDash val="solid"/>
          </a:ln>
        </p:spPr>
      </p:sp>
      <p:sp>
        <p:nvSpPr>
          <p:cNvPr id="15" name="Shape 13"/>
          <p:cNvSpPr/>
          <p:nvPr/>
        </p:nvSpPr>
        <p:spPr>
          <a:xfrm>
            <a:off x="822960" y="4206240"/>
            <a:ext cx="411480" cy="411480"/>
          </a:xfrm>
          <a:prstGeom prst="ellipse">
            <a:avLst/>
          </a:prstGeom>
          <a:solidFill>
            <a:srgbClr val="00A896"/>
          </a:solidFill>
          <a:ln/>
        </p:spPr>
      </p:sp>
      <p:sp>
        <p:nvSpPr>
          <p:cNvPr id="16" name="Text 14"/>
          <p:cNvSpPr/>
          <p:nvPr/>
        </p:nvSpPr>
        <p:spPr>
          <a:xfrm>
            <a:off x="822960" y="420624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417320" y="4187952"/>
            <a:ext cx="4023360" cy="411480"/>
          </a:xfrm>
          <a:prstGeom prst="rect">
            <a:avLst/>
          </a:prstGeom>
          <a:noFill/>
          <a:ln/>
        </p:spPr>
        <p:txBody>
          <a:bodyPr wrap="square" lIns="0" tIns="0" rIns="0" bIns="0" rtlCol="0" anchor="ctr"/>
          <a:lstStyle/>
          <a:p>
            <a:pPr marL="0" indent="0">
              <a:buNone/>
            </a:pPr>
            <a:r>
              <a:rPr lang="en-US" sz="1400" b="1" dirty="0">
                <a:solidFill>
                  <a:srgbClr val="0B2E33"/>
                </a:solidFill>
                <a:latin typeface="Calibri" pitchFamily="34" charset="0"/>
                <a:ea typeface="Calibri" pitchFamily="34" charset="-122"/>
                <a:cs typeface="Calibri" pitchFamily="34" charset="-120"/>
              </a:rPr>
              <a:t>Bảo mật &amp; chi phí</a:t>
            </a:r>
            <a:endParaRPr lang="en-US" sz="1400" dirty="0"/>
          </a:p>
        </p:txBody>
      </p:sp>
      <p:sp>
        <p:nvSpPr>
          <p:cNvPr id="18" name="Text 16"/>
          <p:cNvSpPr/>
          <p:nvPr/>
        </p:nvSpPr>
        <p:spPr>
          <a:xfrm>
            <a:off x="822960" y="4709160"/>
            <a:ext cx="4572000" cy="100584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Gửi code/dữ liệu nhạy cảm lên AI cần chính sách rõ ràng; gọi API quy mô lớn phát sinh chi phí.</a:t>
            </a:r>
            <a:endParaRPr lang="en-US" sz="1150" dirty="0"/>
          </a:p>
        </p:txBody>
      </p:sp>
      <p:sp>
        <p:nvSpPr>
          <p:cNvPr id="19" name="Shape 17"/>
          <p:cNvSpPr/>
          <p:nvPr/>
        </p:nvSpPr>
        <p:spPr>
          <a:xfrm>
            <a:off x="5943600" y="3931920"/>
            <a:ext cx="5120640" cy="1920240"/>
          </a:xfrm>
          <a:prstGeom prst="roundRect">
            <a:avLst>
              <a:gd name="adj" fmla="val 5714"/>
            </a:avLst>
          </a:prstGeom>
          <a:solidFill>
            <a:srgbClr val="F3F8F8"/>
          </a:solidFill>
          <a:ln w="12700">
            <a:solidFill>
              <a:srgbClr val="D7E7E6"/>
            </a:solidFill>
            <a:prstDash val="solid"/>
          </a:ln>
        </p:spPr>
      </p:sp>
      <p:sp>
        <p:nvSpPr>
          <p:cNvPr id="20" name="Shape 18"/>
          <p:cNvSpPr/>
          <p:nvPr/>
        </p:nvSpPr>
        <p:spPr>
          <a:xfrm>
            <a:off x="6217920" y="4206240"/>
            <a:ext cx="411480" cy="411480"/>
          </a:xfrm>
          <a:prstGeom prst="ellipse">
            <a:avLst/>
          </a:prstGeom>
          <a:solidFill>
            <a:srgbClr val="00A896"/>
          </a:solidFill>
          <a:ln/>
        </p:spPr>
      </p:sp>
      <p:sp>
        <p:nvSpPr>
          <p:cNvPr id="21" name="Text 19"/>
          <p:cNvSpPr/>
          <p:nvPr/>
        </p:nvSpPr>
        <p:spPr>
          <a:xfrm>
            <a:off x="6217920" y="420624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6812280" y="4187952"/>
            <a:ext cx="4023360" cy="411480"/>
          </a:xfrm>
          <a:prstGeom prst="rect">
            <a:avLst/>
          </a:prstGeom>
          <a:noFill/>
          <a:ln/>
        </p:spPr>
        <p:txBody>
          <a:bodyPr wrap="square" lIns="0" tIns="0" rIns="0" bIns="0" rtlCol="0" anchor="ctr"/>
          <a:lstStyle/>
          <a:p>
            <a:pPr marL="0" indent="0">
              <a:buNone/>
            </a:pPr>
            <a:r>
              <a:rPr lang="en-US" sz="1400" b="1" dirty="0">
                <a:solidFill>
                  <a:srgbClr val="0B2E33"/>
                </a:solidFill>
                <a:latin typeface="Calibri" pitchFamily="34" charset="0"/>
                <a:ea typeface="Calibri" pitchFamily="34" charset="-122"/>
                <a:cs typeface="Calibri" pitchFamily="34" charset="-120"/>
              </a:rPr>
              <a:t>Không thay thế tư duy khám phá</a:t>
            </a:r>
            <a:endParaRPr lang="en-US" sz="1400" dirty="0"/>
          </a:p>
        </p:txBody>
      </p:sp>
      <p:sp>
        <p:nvSpPr>
          <p:cNvPr id="23" name="Text 21"/>
          <p:cNvSpPr/>
          <p:nvPr/>
        </p:nvSpPr>
        <p:spPr>
          <a:xfrm>
            <a:off x="6217920" y="4709160"/>
            <a:ext cx="4572000" cy="1005840"/>
          </a:xfrm>
          <a:prstGeom prst="rect">
            <a:avLst/>
          </a:prstGeom>
          <a:noFill/>
          <a:ln/>
        </p:spPr>
        <p:txBody>
          <a:bodyPr wrap="square" lIns="0" tIns="0" rIns="0" bIns="0" rtlCol="0" anchor="ctr"/>
          <a:lstStyle/>
          <a:p>
            <a:pPr marL="0" indent="0">
              <a:lnSpc>
                <a:spcPts val="1500"/>
              </a:lnSpc>
              <a:buNone/>
            </a:pPr>
            <a:r>
              <a:rPr lang="en-US" sz="1150" dirty="0">
                <a:solidFill>
                  <a:srgbClr val="5B7B7E"/>
                </a:solidFill>
                <a:latin typeface="Calibri" pitchFamily="34" charset="0"/>
                <a:ea typeface="Calibri" pitchFamily="34" charset="-122"/>
                <a:cs typeface="Calibri" pitchFamily="34" charset="-120"/>
              </a:rPr>
              <a:t>Exploratory testing và đánh giá trải nghiệm người dùng vẫn cần con người.</a:t>
            </a:r>
            <a:endParaRPr lang="en-US" sz="1150" dirty="0"/>
          </a:p>
        </p:txBody>
      </p:sp>
      <p:sp>
        <p:nvSpPr>
          <p:cNvPr id="24" name="Text 22"/>
          <p:cNvSpPr/>
          <p:nvPr/>
        </p:nvSpPr>
        <p:spPr>
          <a:xfrm>
            <a:off x="457200" y="6537960"/>
            <a:ext cx="7315200" cy="274320"/>
          </a:xfrm>
          <a:prstGeom prst="rect">
            <a:avLst/>
          </a:prstGeom>
          <a:noFill/>
          <a:ln/>
        </p:spPr>
        <p:txBody>
          <a:bodyPr wrap="square" lIns="0" tIns="0" rIns="0" bIns="0" rtlCol="0" anchor="ctr"/>
          <a:lstStyle/>
          <a:p>
            <a:pPr marL="0" indent="0">
              <a:buNone/>
            </a:pPr>
            <a:r>
              <a:rPr lang="en-US" sz="900" dirty="0">
                <a:solidFill>
                  <a:srgbClr val="5B7B7E"/>
                </a:solidFill>
                <a:latin typeface="Calibri" pitchFamily="34" charset="0"/>
                <a:ea typeface="Calibri" pitchFamily="34" charset="-122"/>
                <a:cs typeface="Calibri" pitchFamily="34" charset="-120"/>
              </a:rPr>
              <a:t>Codex trong Kiểm thử Phần mềm — Quy trình &amp; Loại hình</a:t>
            </a:r>
            <a:endParaRPr lang="en-US" sz="900" dirty="0"/>
          </a:p>
        </p:txBody>
      </p:sp>
      <p:sp>
        <p:nvSpPr>
          <p:cNvPr id="25" name="Text 23"/>
          <p:cNvSpPr/>
          <p:nvPr/>
        </p:nvSpPr>
        <p:spPr>
          <a:xfrm>
            <a:off x="11338560" y="6537960"/>
            <a:ext cx="365760" cy="274320"/>
          </a:xfrm>
          <a:prstGeom prst="rect">
            <a:avLst/>
          </a:prstGeom>
          <a:noFill/>
          <a:ln/>
        </p:spPr>
        <p:txBody>
          <a:bodyPr wrap="square" lIns="0" tIns="0" rIns="0" bIns="0" rtlCol="0" anchor="ctr"/>
          <a:lstStyle/>
          <a:p>
            <a:pPr marL="0" indent="0" algn="r">
              <a:buNone/>
            </a:pPr>
            <a:r>
              <a:rPr lang="en-US" sz="900" dirty="0">
                <a:solidFill>
                  <a:srgbClr val="5B7B7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272B"/>
        </a:solidFill>
        <a:effectLst/>
      </p:bgPr>
    </p:bg>
    <p:spTree>
      <p:nvGrpSpPr>
        <p:cNvPr id="1" name=""/>
        <p:cNvGrpSpPr/>
        <p:nvPr/>
      </p:nvGrpSpPr>
      <p:grpSpPr>
        <a:xfrm>
          <a:off x="0" y="0"/>
          <a:ext cx="0" cy="0"/>
          <a:chOff x="0" y="0"/>
          <a:chExt cx="0" cy="0"/>
        </a:xfrm>
      </p:grpSpPr>
      <p:sp>
        <p:nvSpPr>
          <p:cNvPr id="2" name="Shape 0"/>
          <p:cNvSpPr/>
          <p:nvPr/>
        </p:nvSpPr>
        <p:spPr>
          <a:xfrm>
            <a:off x="-1371600" y="3840480"/>
            <a:ext cx="4572000" cy="4572000"/>
          </a:xfrm>
          <a:prstGeom prst="ellipse">
            <a:avLst/>
          </a:prstGeom>
          <a:solidFill>
            <a:srgbClr val="028090">
              <a:alpha val="25000"/>
            </a:srgbClr>
          </a:solidFill>
          <a:ln/>
        </p:spPr>
      </p:sp>
      <p:sp>
        <p:nvSpPr>
          <p:cNvPr id="3" name="Text 1"/>
          <p:cNvSpPr/>
          <p:nvPr/>
        </p:nvSpPr>
        <p:spPr>
          <a:xfrm>
            <a:off x="731520" y="640080"/>
            <a:ext cx="7315200" cy="365760"/>
          </a:xfrm>
          <a:prstGeom prst="rect">
            <a:avLst/>
          </a:prstGeom>
          <a:noFill/>
          <a:ln/>
        </p:spPr>
        <p:txBody>
          <a:bodyPr wrap="square" lIns="0" tIns="0" rIns="0" bIns="0" rtlCol="0" anchor="ctr"/>
          <a:lstStyle/>
          <a:p>
            <a:pPr marL="0" indent="0">
              <a:buNone/>
            </a:pPr>
            <a:r>
              <a:rPr lang="en-US" sz="1300" b="1" kern="0" spc="300" dirty="0">
                <a:solidFill>
                  <a:srgbClr val="02C39A"/>
                </a:solidFill>
                <a:latin typeface="Calibri" pitchFamily="34" charset="0"/>
                <a:ea typeface="Calibri" pitchFamily="34" charset="-122"/>
                <a:cs typeface="Calibri" pitchFamily="34" charset="-120"/>
              </a:rPr>
              <a:t>KẾT LUẬN &amp; ĐỀ XUẤT</a:t>
            </a:r>
            <a:endParaRPr lang="en-US" sz="1300" dirty="0"/>
          </a:p>
        </p:txBody>
      </p:sp>
      <p:sp>
        <p:nvSpPr>
          <p:cNvPr id="4" name="Text 2"/>
          <p:cNvSpPr/>
          <p:nvPr/>
        </p:nvSpPr>
        <p:spPr>
          <a:xfrm>
            <a:off x="731520" y="1051560"/>
            <a:ext cx="9601200" cy="1371600"/>
          </a:xfrm>
          <a:prstGeom prst="rect">
            <a:avLst/>
          </a:prstGeom>
          <a:noFill/>
          <a:ln/>
        </p:spPr>
        <p:txBody>
          <a:bodyPr wrap="square" lIns="0" tIns="0" rIns="0" bIns="0" rtlCol="0" anchor="ctr"/>
          <a:lstStyle/>
          <a:p>
            <a:pPr marL="0" indent="0">
              <a:lnSpc>
                <a:spcPts val="3400"/>
              </a:lnSpc>
              <a:buNone/>
            </a:pPr>
            <a:r>
              <a:rPr lang="en-US" sz="2800" b="1" dirty="0">
                <a:solidFill>
                  <a:srgbClr val="FFFFFF"/>
                </a:solidFill>
                <a:latin typeface="Cambria" pitchFamily="34" charset="0"/>
                <a:ea typeface="Cambria" pitchFamily="34" charset="-122"/>
                <a:cs typeface="Cambria" pitchFamily="34" charset="-120"/>
              </a:rPr>
              <a:t>Áp dụng Codex theo cả hai trục:</a:t>
            </a:r>
            <a:endParaRPr lang="en-US" sz="2800" dirty="0"/>
          </a:p>
          <a:p>
            <a:pPr marL="0" indent="0">
              <a:lnSpc>
                <a:spcPts val="3400"/>
              </a:lnSpc>
              <a:buNone/>
            </a:pPr>
            <a:r>
              <a:rPr lang="en-US" sz="2800" b="1" dirty="0">
                <a:solidFill>
                  <a:srgbClr val="FFFFFF"/>
                </a:solidFill>
                <a:latin typeface="Cambria" pitchFamily="34" charset="0"/>
                <a:ea typeface="Cambria" pitchFamily="34" charset="-122"/>
                <a:cs typeface="Cambria" pitchFamily="34" charset="-120"/>
              </a:rPr>
              <a:t>quy trình và loại hình kiểm thử</a:t>
            </a:r>
            <a:endParaRPr lang="en-US" sz="2800" dirty="0"/>
          </a:p>
        </p:txBody>
      </p:sp>
      <p:sp>
        <p:nvSpPr>
          <p:cNvPr id="5" name="Shape 3"/>
          <p:cNvSpPr/>
          <p:nvPr/>
        </p:nvSpPr>
        <p:spPr>
          <a:xfrm>
            <a:off x="731520" y="2834640"/>
            <a:ext cx="502920" cy="502920"/>
          </a:xfrm>
          <a:prstGeom prst="ellipse">
            <a:avLst/>
          </a:prstGeom>
          <a:solidFill>
            <a:srgbClr val="00A896"/>
          </a:solidFill>
          <a:ln/>
        </p:spPr>
      </p:sp>
      <p:sp>
        <p:nvSpPr>
          <p:cNvPr id="6" name="Text 4"/>
          <p:cNvSpPr/>
          <p:nvPr/>
        </p:nvSpPr>
        <p:spPr>
          <a:xfrm>
            <a:off x="731520" y="28346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417320" y="2852928"/>
            <a:ext cx="9418320" cy="548640"/>
          </a:xfrm>
          <a:prstGeom prst="rect">
            <a:avLst/>
          </a:prstGeom>
          <a:noFill/>
          <a:ln/>
        </p:spPr>
        <p:txBody>
          <a:bodyPr wrap="square" lIns="0" tIns="0" rIns="0" bIns="0" rtlCol="0" anchor="ctr"/>
          <a:lstStyle/>
          <a:p>
            <a:pPr marL="0" indent="0">
              <a:lnSpc>
                <a:spcPts val="1600"/>
              </a:lnSpc>
              <a:buNone/>
            </a:pPr>
            <a:r>
              <a:rPr lang="en-US" sz="1300" dirty="0">
                <a:solidFill>
                  <a:srgbClr val="E4F3F1"/>
                </a:solidFill>
                <a:latin typeface="Calibri" pitchFamily="34" charset="0"/>
                <a:ea typeface="Calibri" pitchFamily="34" charset="-122"/>
                <a:cs typeface="Calibri" pitchFamily="34" charset="-120"/>
              </a:rPr>
              <a:t>Bắt đầu ở Unit/Functional Testing — dễ đo lường, ít rủi ro nhất</a:t>
            </a:r>
            <a:endParaRPr lang="en-US" sz="1300" dirty="0"/>
          </a:p>
        </p:txBody>
      </p:sp>
      <p:sp>
        <p:nvSpPr>
          <p:cNvPr id="8" name="Shape 6"/>
          <p:cNvSpPr/>
          <p:nvPr/>
        </p:nvSpPr>
        <p:spPr>
          <a:xfrm>
            <a:off x="731520" y="3611880"/>
            <a:ext cx="502920" cy="502920"/>
          </a:xfrm>
          <a:prstGeom prst="ellipse">
            <a:avLst/>
          </a:prstGeom>
          <a:solidFill>
            <a:srgbClr val="02C39A"/>
          </a:solidFill>
          <a:ln/>
        </p:spPr>
      </p:sp>
      <p:sp>
        <p:nvSpPr>
          <p:cNvPr id="9" name="Text 7"/>
          <p:cNvSpPr/>
          <p:nvPr/>
        </p:nvSpPr>
        <p:spPr>
          <a:xfrm>
            <a:off x="731520" y="36118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417320" y="3630168"/>
            <a:ext cx="9418320" cy="548640"/>
          </a:xfrm>
          <a:prstGeom prst="rect">
            <a:avLst/>
          </a:prstGeom>
          <a:noFill/>
          <a:ln/>
        </p:spPr>
        <p:txBody>
          <a:bodyPr wrap="square" lIns="0" tIns="0" rIns="0" bIns="0" rtlCol="0" anchor="ctr"/>
          <a:lstStyle/>
          <a:p>
            <a:pPr marL="0" indent="0">
              <a:lnSpc>
                <a:spcPts val="1600"/>
              </a:lnSpc>
              <a:buNone/>
            </a:pPr>
            <a:r>
              <a:rPr lang="en-US" sz="1300" dirty="0">
                <a:solidFill>
                  <a:srgbClr val="E4F3F1"/>
                </a:solidFill>
                <a:latin typeface="Calibri" pitchFamily="34" charset="0"/>
                <a:ea typeface="Calibri" pitchFamily="34" charset="-122"/>
                <a:cs typeface="Calibri" pitchFamily="34" charset="-120"/>
              </a:rPr>
              <a:t>Mở rộng sang UI/Visual và Performance khi đã có CI/CD ổn định</a:t>
            </a:r>
            <a:endParaRPr lang="en-US" sz="1300" dirty="0"/>
          </a:p>
        </p:txBody>
      </p:sp>
      <p:sp>
        <p:nvSpPr>
          <p:cNvPr id="11" name="Shape 9"/>
          <p:cNvSpPr/>
          <p:nvPr/>
        </p:nvSpPr>
        <p:spPr>
          <a:xfrm>
            <a:off x="731520" y="4389120"/>
            <a:ext cx="502920" cy="502920"/>
          </a:xfrm>
          <a:prstGeom prst="ellipse">
            <a:avLst/>
          </a:prstGeom>
          <a:solidFill>
            <a:srgbClr val="00A896"/>
          </a:solidFill>
          <a:ln/>
        </p:spPr>
      </p:sp>
      <p:sp>
        <p:nvSpPr>
          <p:cNvPr id="12" name="Text 10"/>
          <p:cNvSpPr/>
          <p:nvPr/>
        </p:nvSpPr>
        <p:spPr>
          <a:xfrm>
            <a:off x="731520" y="43891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1417320" y="4407408"/>
            <a:ext cx="9418320" cy="548640"/>
          </a:xfrm>
          <a:prstGeom prst="rect">
            <a:avLst/>
          </a:prstGeom>
          <a:noFill/>
          <a:ln/>
        </p:spPr>
        <p:txBody>
          <a:bodyPr wrap="square" lIns="0" tIns="0" rIns="0" bIns="0" rtlCol="0" anchor="ctr"/>
          <a:lstStyle/>
          <a:p>
            <a:pPr marL="0" indent="0">
              <a:lnSpc>
                <a:spcPts val="1600"/>
              </a:lnSpc>
              <a:buNone/>
            </a:pPr>
            <a:r>
              <a:rPr lang="en-US" sz="1300" dirty="0">
                <a:solidFill>
                  <a:srgbClr val="E4F3F1"/>
                </a:solidFill>
                <a:latin typeface="Calibri" pitchFamily="34" charset="0"/>
                <a:ea typeface="Calibri" pitchFamily="34" charset="-122"/>
                <a:cs typeface="Calibri" pitchFamily="34" charset="-120"/>
              </a:rPr>
              <a:t>Dùng Codex cho rà soát Security ở mức code, kết hợp công cụ bảo mật chuyên dụng khi cần sâu hơn</a:t>
            </a:r>
            <a:endParaRPr lang="en-US" sz="1300" dirty="0"/>
          </a:p>
        </p:txBody>
      </p:sp>
      <p:sp>
        <p:nvSpPr>
          <p:cNvPr id="14" name="Shape 12"/>
          <p:cNvSpPr/>
          <p:nvPr/>
        </p:nvSpPr>
        <p:spPr>
          <a:xfrm>
            <a:off x="731520" y="5166360"/>
            <a:ext cx="502920" cy="502920"/>
          </a:xfrm>
          <a:prstGeom prst="ellipse">
            <a:avLst/>
          </a:prstGeom>
          <a:solidFill>
            <a:srgbClr val="02C39A"/>
          </a:solidFill>
          <a:ln/>
        </p:spPr>
      </p:sp>
      <p:sp>
        <p:nvSpPr>
          <p:cNvPr id="15" name="Text 13"/>
          <p:cNvSpPr/>
          <p:nvPr/>
        </p:nvSpPr>
        <p:spPr>
          <a:xfrm>
            <a:off x="731520" y="51663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1417320" y="5184648"/>
            <a:ext cx="9418320" cy="548640"/>
          </a:xfrm>
          <a:prstGeom prst="rect">
            <a:avLst/>
          </a:prstGeom>
          <a:noFill/>
          <a:ln/>
        </p:spPr>
        <p:txBody>
          <a:bodyPr wrap="square" lIns="0" tIns="0" rIns="0" bIns="0" rtlCol="0" anchor="ctr"/>
          <a:lstStyle/>
          <a:p>
            <a:pPr marL="0" indent="0">
              <a:lnSpc>
                <a:spcPts val="1600"/>
              </a:lnSpc>
              <a:buNone/>
            </a:pPr>
            <a:r>
              <a:rPr lang="en-US" sz="1300" dirty="0">
                <a:solidFill>
                  <a:srgbClr val="E4F3F1"/>
                </a:solidFill>
                <a:latin typeface="Calibri" pitchFamily="34" charset="0"/>
                <a:ea typeface="Calibri" pitchFamily="34" charset="-122"/>
                <a:cs typeface="Calibri" pitchFamily="34" charset="-120"/>
              </a:rPr>
              <a:t>Luôn duy trì review của con người trước khi merge, ở mọi giai đoạn và mọi loại hình kiểm thử</a:t>
            </a:r>
            <a:endParaRPr lang="en-US" sz="1300" dirty="0"/>
          </a:p>
        </p:txBody>
      </p:sp>
      <p:sp>
        <p:nvSpPr>
          <p:cNvPr id="17" name="Shape 15"/>
          <p:cNvSpPr/>
          <p:nvPr/>
        </p:nvSpPr>
        <p:spPr>
          <a:xfrm>
            <a:off x="731520" y="6172200"/>
            <a:ext cx="1280160" cy="0"/>
          </a:xfrm>
          <a:prstGeom prst="line">
            <a:avLst/>
          </a:prstGeom>
          <a:noFill/>
          <a:ln w="31750">
            <a:solidFill>
              <a:srgbClr val="02C39A"/>
            </a:solidFill>
            <a:prstDash val="solid"/>
          </a:ln>
        </p:spPr>
      </p:sp>
      <p:sp>
        <p:nvSpPr>
          <p:cNvPr id="18" name="Text 16"/>
          <p:cNvSpPr/>
          <p:nvPr/>
        </p:nvSpPr>
        <p:spPr>
          <a:xfrm>
            <a:off x="731520" y="6309360"/>
            <a:ext cx="7315200" cy="365760"/>
          </a:xfrm>
          <a:prstGeom prst="rect">
            <a:avLst/>
          </a:prstGeom>
          <a:noFill/>
          <a:ln/>
        </p:spPr>
        <p:txBody>
          <a:bodyPr wrap="square" lIns="0" tIns="0" rIns="0" bIns="0" rtlCol="0" anchor="ctr"/>
          <a:lstStyle/>
          <a:p>
            <a:pPr marL="0" indent="0">
              <a:buNone/>
            </a:pPr>
            <a:r>
              <a:rPr lang="en-US" sz="1200" i="1" dirty="0">
                <a:solidFill>
                  <a:srgbClr val="8FB6B4"/>
                </a:solidFill>
                <a:latin typeface="Calibri" pitchFamily="34" charset="0"/>
                <a:ea typeface="Calibri" pitchFamily="34" charset="-122"/>
                <a:cs typeface="Calibri" pitchFamily="34" charset="-120"/>
              </a:rPr>
              <a:t>Cảm ơn thầy/cô và các bạn đã theo dõi.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1976</Words>
  <Application>Microsoft Office PowerPoint</Application>
  <PresentationFormat>Widescreen</PresentationFormat>
  <Paragraphs>215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ngduyquangnhat03@gmail.com</cp:lastModifiedBy>
  <cp:revision>2</cp:revision>
  <dcterms:created xsi:type="dcterms:W3CDTF">2026-07-15T06:45:48Z</dcterms:created>
  <dcterms:modified xsi:type="dcterms:W3CDTF">2026-07-15T09:32:36Z</dcterms:modified>
</cp:coreProperties>
</file>